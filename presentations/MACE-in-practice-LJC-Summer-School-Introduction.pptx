
<file path=[Content_Types].xml><?xml version="1.0" encoding="utf-8"?>
<Types xmlns="http://schemas.openxmlformats.org/package/2006/content-types"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y="6858000" cx="1219167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2" Type="http://schemas.openxmlformats.org/officeDocument/2006/relationships/slide" Target="slides/slide7.xml"/><Relationship Id="rId9" Type="http://schemas.openxmlformats.org/officeDocument/2006/relationships/slide" Target="slides/slide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slide_title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slide_title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ext_section_title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ext_section_title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ext_macefield_recipe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ext_macefield_recipe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ext_macefield_code_ma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8" name="Google Shape;248;ext_macefield_code_map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530352" y="502920"/>
            <a:ext cx="109800" cy="5898000"/>
          </a:xfrm>
          <a:prstGeom prst="rect">
            <a:avLst/>
          </a:prstGeom>
          <a:solidFill>
            <a:srgbClr val="25848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3"/>
          <p:cNvSpPr/>
          <p:nvPr/>
        </p:nvSpPr>
        <p:spPr>
          <a:xfrm>
            <a:off x="932688" y="4315968"/>
            <a:ext cx="10223100" cy="1261800"/>
          </a:xfrm>
          <a:prstGeom prst="roundRect">
            <a:avLst>
              <a:gd fmla="val 16667" name="adj"/>
            </a:avLst>
          </a:prstGeom>
          <a:solidFill>
            <a:srgbClr val="EDF5F4"/>
          </a:solidFill>
          <a:ln cap="flat" cmpd="sng" w="15250">
            <a:solidFill>
              <a:srgbClr val="D6E7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3"/>
          <p:cNvSpPr txBox="1"/>
          <p:nvPr/>
        </p:nvSpPr>
        <p:spPr>
          <a:xfrm>
            <a:off x="960120" y="566928"/>
            <a:ext cx="102414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258487"/>
                </a:solidFill>
              </a:rPr>
              <a:t>LJC–TYC SUMMER SCHOOL  ·  ATOMIC-SCALE MODELLING</a:t>
            </a:r>
            <a:endParaRPr b="1" sz="1100">
              <a:solidFill>
                <a:srgbClr val="258487"/>
              </a:solidFill>
            </a:endParaRPr>
          </a:p>
        </p:txBody>
      </p:sp>
      <p:sp>
        <p:nvSpPr>
          <p:cNvPr id="87" name="Google Shape;87;p13"/>
          <p:cNvSpPr txBox="1"/>
          <p:nvPr/>
        </p:nvSpPr>
        <p:spPr>
          <a:xfrm>
            <a:off x="932688" y="1325880"/>
            <a:ext cx="10332600" cy="82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200">
                <a:solidFill>
                  <a:srgbClr val="183149"/>
                </a:solidFill>
              </a:rPr>
              <a:t>MACE in practice</a:t>
            </a:r>
            <a:endParaRPr b="1" sz="4200">
              <a:solidFill>
                <a:srgbClr val="183149"/>
              </a:solidFill>
            </a:endParaRPr>
          </a:p>
        </p:txBody>
      </p:sp>
      <p:sp>
        <p:nvSpPr>
          <p:cNvPr id="88" name="Google Shape;88;p13"/>
          <p:cNvSpPr txBox="1"/>
          <p:nvPr/>
        </p:nvSpPr>
        <p:spPr>
          <a:xfrm>
            <a:off x="960120" y="2395728"/>
            <a:ext cx="99669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>
                <a:solidFill>
                  <a:srgbClr val="536C7C"/>
                </a:solidFill>
              </a:rPr>
              <a:t>Hands-on modelling, optional advanced study and a closing showcase of MACE extensions</a:t>
            </a:r>
            <a:endParaRPr sz="2100">
              <a:solidFill>
                <a:srgbClr val="536C7C"/>
              </a:solidFill>
            </a:endParaRPr>
          </a:p>
        </p:txBody>
      </p:sp>
      <p:sp>
        <p:nvSpPr>
          <p:cNvPr id="89" name="Google Shape;89;p13"/>
          <p:cNvSpPr txBox="1"/>
          <p:nvPr/>
        </p:nvSpPr>
        <p:spPr>
          <a:xfrm>
            <a:off x="1225296" y="4526280"/>
            <a:ext cx="42063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258487"/>
                </a:solidFill>
              </a:rPr>
              <a:t>PEOPLE</a:t>
            </a:r>
            <a:endParaRPr b="1" sz="1000">
              <a:solidFill>
                <a:srgbClr val="258487"/>
              </a:solidFill>
            </a:endParaRPr>
          </a:p>
        </p:txBody>
      </p:sp>
      <p:sp>
        <p:nvSpPr>
          <p:cNvPr id="90" name="Google Shape;90;p13"/>
          <p:cNvSpPr txBox="1"/>
          <p:nvPr/>
        </p:nvSpPr>
        <p:spPr>
          <a:xfrm>
            <a:off x="1225296" y="4828032"/>
            <a:ext cx="43890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183149"/>
                </a:solidFill>
              </a:rPr>
              <a:t>Bradley Martin · Isaac Parker · Joe Hart</a:t>
            </a:r>
            <a:endParaRPr b="1" sz="1700">
              <a:solidFill>
                <a:srgbClr val="183149"/>
              </a:solidFill>
            </a:endParaRPr>
          </a:p>
        </p:txBody>
      </p:sp>
      <p:sp>
        <p:nvSpPr>
          <p:cNvPr id="91" name="Google Shape;91;p13"/>
          <p:cNvSpPr txBox="1"/>
          <p:nvPr/>
        </p:nvSpPr>
        <p:spPr>
          <a:xfrm>
            <a:off x="6446520" y="4526280"/>
            <a:ext cx="4114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258487"/>
                </a:solidFill>
              </a:rPr>
              <a:t>SESSION</a:t>
            </a:r>
            <a:endParaRPr b="1" sz="1000">
              <a:solidFill>
                <a:srgbClr val="258487"/>
              </a:solidFill>
            </a:endParaRPr>
          </a:p>
        </p:txBody>
      </p:sp>
      <p:sp>
        <p:nvSpPr>
          <p:cNvPr id="92" name="Google Shape;92;p13"/>
          <p:cNvSpPr txBox="1"/>
          <p:nvPr/>
        </p:nvSpPr>
        <p:spPr>
          <a:xfrm>
            <a:off x="6446520" y="4800600"/>
            <a:ext cx="42978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183149"/>
                </a:solidFill>
              </a:rPr>
              <a:t>Thursday 1 October 2026</a:t>
            </a:r>
            <a:endParaRPr b="1" sz="1500">
              <a:solidFill>
                <a:srgbClr val="18314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183149"/>
                </a:solidFill>
              </a:rPr>
              <a:t>14:00–17:00 · Cambridge</a:t>
            </a:r>
            <a:endParaRPr b="1" sz="1500">
              <a:solidFill>
                <a:srgbClr val="183149"/>
              </a:solidFill>
            </a:endParaRPr>
          </a:p>
        </p:txBody>
      </p:sp>
      <p:sp>
        <p:nvSpPr>
          <p:cNvPr id="93" name="Google Shape;93;p13"/>
          <p:cNvSpPr txBox="1"/>
          <p:nvPr/>
        </p:nvSpPr>
        <p:spPr>
          <a:xfrm>
            <a:off x="960120" y="6281928"/>
            <a:ext cx="10058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536C7C"/>
                </a:solidFill>
              </a:rPr>
              <a:t>Lennard-Jones Centre and Thomas Young Centre · University of Cambridge</a:t>
            </a:r>
            <a:endParaRPr sz="1000">
              <a:solidFill>
                <a:srgbClr val="536C7C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9FB"/>
        </a:solidFill>
      </p:bgPr>
    </p:bg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4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83148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4"/>
          <p:cNvSpPr txBox="1"/>
          <p:nvPr/>
        </p:nvSpPr>
        <p:spPr>
          <a:xfrm>
            <a:off x="566928" y="347472"/>
            <a:ext cx="109728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5848B"/>
                </a:solidFill>
                <a:latin typeface="Arial"/>
                <a:ea typeface="Arial"/>
                <a:cs typeface="Arial"/>
                <a:sym typeface="Arial"/>
              </a:rPr>
              <a:t>THURSDAY 1 OCTOBER 2026  ·  14:00–17:00</a:t>
            </a:r>
            <a:endParaRPr/>
          </a:p>
        </p:txBody>
      </p:sp>
      <p:sp>
        <p:nvSpPr>
          <p:cNvPr id="100" name="Google Shape;100;p14"/>
          <p:cNvSpPr txBox="1"/>
          <p:nvPr/>
        </p:nvSpPr>
        <p:spPr>
          <a:xfrm>
            <a:off x="566928" y="658368"/>
            <a:ext cx="109728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183148"/>
                </a:solidFill>
              </a:rPr>
              <a:t>Workshop flow</a:t>
            </a:r>
            <a:endParaRPr/>
          </a:p>
        </p:txBody>
      </p:sp>
      <p:sp>
        <p:nvSpPr>
          <p:cNvPr id="101" name="Google Shape;101;p14"/>
          <p:cNvSpPr txBox="1"/>
          <p:nvPr/>
        </p:nvSpPr>
        <p:spPr>
          <a:xfrm>
            <a:off x="502920" y="6547104"/>
            <a:ext cx="91440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536676"/>
                </a:solidFill>
                <a:latin typeface="Arial"/>
                <a:ea typeface="Arial"/>
                <a:cs typeface="Arial"/>
                <a:sym typeface="Arial"/>
              </a:rPr>
              <a:t>LJC–TYC SUMMER SCHOOL  ·  ATOMIC-SCALE MODELLING</a:t>
            </a:r>
            <a:endParaRPr/>
          </a:p>
        </p:txBody>
      </p:sp>
      <p:sp>
        <p:nvSpPr>
          <p:cNvPr id="102" name="Google Shape;102;p14"/>
          <p:cNvSpPr txBox="1"/>
          <p:nvPr/>
        </p:nvSpPr>
        <p:spPr>
          <a:xfrm>
            <a:off x="11292840" y="6510528"/>
            <a:ext cx="3657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536676"/>
                </a:solidFill>
              </a:rPr>
              <a:t>02</a:t>
            </a:r>
            <a:endParaRPr/>
          </a:p>
        </p:txBody>
      </p:sp>
      <p:sp>
        <p:nvSpPr>
          <p:cNvPr id="103" name="Google Shape;103;p14"/>
          <p:cNvSpPr/>
          <p:nvPr/>
        </p:nvSpPr>
        <p:spPr>
          <a:xfrm>
            <a:off x="749808" y="1572768"/>
            <a:ext cx="6784848" cy="914400"/>
          </a:xfrm>
          <a:prstGeom prst="roundRect">
            <a:avLst>
              <a:gd fmla="val 8000" name="adj"/>
            </a:avLst>
          </a:prstGeom>
          <a:solidFill>
            <a:srgbClr val="25848B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14"/>
          <p:cNvSpPr txBox="1"/>
          <p:nvPr/>
        </p:nvSpPr>
        <p:spPr>
          <a:xfrm>
            <a:off x="950976" y="1645920"/>
            <a:ext cx="1426464" cy="7680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FFFFFF"/>
                </a:solidFill>
              </a:rPr>
              <a:t>CORE ROUTE</a:t>
            </a:r>
            <a:endParaRPr/>
          </a:p>
        </p:txBody>
      </p:sp>
      <p:sp>
        <p:nvSpPr>
          <p:cNvPr id="105" name="Google Shape;105;p14"/>
          <p:cNvSpPr txBox="1"/>
          <p:nvPr/>
        </p:nvSpPr>
        <p:spPr>
          <a:xfrm>
            <a:off x="2432304" y="1645920"/>
            <a:ext cx="4882896" cy="7680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MACE Practice I + II</a:t>
            </a:r>
            <a:endParaRPr>
              <a:solidFill>
                <a:srgbClr val="FFFFFF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All three co-lead the practical route.</a:t>
            </a:r>
            <a:endParaRPr/>
          </a:p>
        </p:txBody>
      </p:sp>
      <p:sp>
        <p:nvSpPr>
          <p:cNvPr id="106" name="Google Shape;106;p14"/>
          <p:cNvSpPr/>
          <p:nvPr/>
        </p:nvSpPr>
        <p:spPr>
          <a:xfrm>
            <a:off x="749808" y="3017520"/>
            <a:ext cx="6784848" cy="914400"/>
          </a:xfrm>
          <a:prstGeom prst="roundRect">
            <a:avLst>
              <a:gd fmla="val 8000" name="adj"/>
            </a:avLst>
          </a:prstGeom>
          <a:solidFill>
            <a:srgbClr val="437EAB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50976" y="3090672"/>
            <a:ext cx="1426464" cy="7680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FFFFFF"/>
                </a:solidFill>
              </a:rPr>
              <a:t>OPTIONAL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2432304" y="3090672"/>
            <a:ext cx="4882896" cy="7680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Advanced notebooks</a:t>
            </a:r>
            <a:endParaRPr>
              <a:solidFill>
                <a:srgbClr val="FFFFFF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For early finishers who want more theory or applications.</a:t>
            </a:r>
            <a:endParaRPr/>
          </a:p>
        </p:txBody>
      </p:sp>
      <p:sp>
        <p:nvSpPr>
          <p:cNvPr id="109" name="Google Shape;109;p14"/>
          <p:cNvSpPr/>
          <p:nvPr/>
        </p:nvSpPr>
        <p:spPr>
          <a:xfrm>
            <a:off x="749808" y="4462272"/>
            <a:ext cx="6784848" cy="914400"/>
          </a:xfrm>
          <a:prstGeom prst="roundRect">
            <a:avLst>
              <a:gd fmla="val 8000" name="adj"/>
            </a:avLst>
          </a:prstGeom>
          <a:solidFill>
            <a:srgbClr val="488F6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14"/>
          <p:cNvSpPr txBox="1"/>
          <p:nvPr/>
        </p:nvSpPr>
        <p:spPr>
          <a:xfrm>
            <a:off x="950976" y="4535424"/>
            <a:ext cx="1426464" cy="7680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FFFFFF"/>
                </a:solidFill>
              </a:rPr>
              <a:t>FINAL 30–45 MIN</a:t>
            </a:r>
            <a:endParaRPr/>
          </a:p>
        </p:txBody>
      </p:sp>
      <p:sp>
        <p:nvSpPr>
          <p:cNvPr id="111" name="Google Shape;111;p14"/>
          <p:cNvSpPr txBox="1"/>
          <p:nvPr/>
        </p:nvSpPr>
        <p:spPr>
          <a:xfrm>
            <a:off x="2432304" y="4535424"/>
            <a:ext cx="4882896" cy="7680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MACE extension examples</a:t>
            </a:r>
            <a:endParaRPr>
              <a:solidFill>
                <a:srgbClr val="FFFFFF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Bradley leads this segment individually.</a:t>
            </a:r>
            <a:endParaRPr/>
          </a:p>
        </p:txBody>
      </p:sp>
      <p:sp>
        <p:nvSpPr>
          <p:cNvPr id="112" name="Google Shape;112;p14"/>
          <p:cNvSpPr/>
          <p:nvPr/>
        </p:nvSpPr>
        <p:spPr>
          <a:xfrm>
            <a:off x="8001000" y="1572768"/>
            <a:ext cx="3566160" cy="4114800"/>
          </a:xfrm>
          <a:prstGeom prst="roundRect">
            <a:avLst>
              <a:gd fmla="val 8000" name="adj"/>
            </a:avLst>
          </a:prstGeom>
          <a:solidFill>
            <a:srgbClr val="183148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14"/>
          <p:cNvSpPr txBox="1"/>
          <p:nvPr/>
        </p:nvSpPr>
        <p:spPr>
          <a:xfrm>
            <a:off x="8302752" y="1901952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87D9D7"/>
                </a:solidFill>
                <a:latin typeface="Arial"/>
                <a:ea typeface="Arial"/>
                <a:cs typeface="Arial"/>
                <a:sym typeface="Arial"/>
              </a:rPr>
              <a:t>PEOPLE</a:t>
            </a:r>
            <a:endParaRPr/>
          </a:p>
        </p:txBody>
      </p:sp>
      <p:sp>
        <p:nvSpPr>
          <p:cNvPr id="114" name="Google Shape;114;p14"/>
          <p:cNvSpPr txBox="1"/>
          <p:nvPr/>
        </p:nvSpPr>
        <p:spPr>
          <a:xfrm>
            <a:off x="8302752" y="2322576"/>
            <a:ext cx="29260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Bradley Martin</a:t>
            </a:r>
            <a:endParaRPr/>
          </a:p>
        </p:txBody>
      </p:sp>
      <p:sp>
        <p:nvSpPr>
          <p:cNvPr id="115" name="Google Shape;115;p14"/>
          <p:cNvSpPr txBox="1"/>
          <p:nvPr/>
        </p:nvSpPr>
        <p:spPr>
          <a:xfrm>
            <a:off x="8302752" y="2971800"/>
            <a:ext cx="29260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Isaac Parker</a:t>
            </a:r>
            <a:endParaRPr/>
          </a:p>
        </p:txBody>
      </p:sp>
      <p:sp>
        <p:nvSpPr>
          <p:cNvPr id="116" name="Google Shape;116;p14"/>
          <p:cNvSpPr txBox="1"/>
          <p:nvPr/>
        </p:nvSpPr>
        <p:spPr>
          <a:xfrm>
            <a:off x="8302752" y="3621024"/>
            <a:ext cx="29260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Joe Hart</a:t>
            </a:r>
            <a:endParaRPr/>
          </a:p>
        </p:txBody>
      </p:sp>
      <p:sp>
        <p:nvSpPr>
          <p:cNvPr id="117" name="Google Shape;117;p14"/>
          <p:cNvSpPr/>
          <p:nvPr/>
        </p:nvSpPr>
        <p:spPr>
          <a:xfrm>
            <a:off x="8302752" y="4370832"/>
            <a:ext cx="585216" cy="54864"/>
          </a:xfrm>
          <a:prstGeom prst="rect">
            <a:avLst/>
          </a:prstGeom>
          <a:solidFill>
            <a:srgbClr val="D9A44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4"/>
          <p:cNvSpPr txBox="1"/>
          <p:nvPr/>
        </p:nvSpPr>
        <p:spPr>
          <a:xfrm>
            <a:off x="8302752" y="4626864"/>
            <a:ext cx="292608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E0E9EF"/>
                </a:solidFill>
              </a:rPr>
              <a:t>All three · Practice I + II</a:t>
            </a:r>
            <a:endParaRPr sz="1300">
              <a:solidFill>
                <a:srgbClr val="E0E9EF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E0E9EF"/>
                </a:solidFill>
              </a:rPr>
              <a:t>Bradley solo · MACE extensions</a:t>
            </a:r>
            <a:endParaRPr/>
          </a:p>
        </p:txBody>
      </p:sp>
      <p:sp>
        <p:nvSpPr>
          <p:cNvPr id="119" name="Google Shape;119;p14"/>
          <p:cNvSpPr txBox="1"/>
          <p:nvPr/>
        </p:nvSpPr>
        <p:spPr>
          <a:xfrm>
            <a:off x="768096" y="5989320"/>
            <a:ext cx="6766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536676"/>
                </a:solidFill>
              </a:rPr>
              <a:t>10-minute break each hour · Core route: Practice I → Practice II.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9FB"/>
        </a:soli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5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83148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5"/>
          <p:cNvSpPr txBox="1"/>
          <p:nvPr/>
        </p:nvSpPr>
        <p:spPr>
          <a:xfrm>
            <a:off x="566928" y="347472"/>
            <a:ext cx="109728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25848B"/>
                </a:solidFill>
              </a:rPr>
              <a:t>WORKSHOP NOTEBOOKS</a:t>
            </a:r>
            <a:endParaRPr/>
          </a:p>
        </p:txBody>
      </p:sp>
      <p:sp>
        <p:nvSpPr>
          <p:cNvPr id="126" name="Google Shape;126;p15"/>
          <p:cNvSpPr txBox="1"/>
          <p:nvPr/>
        </p:nvSpPr>
        <p:spPr>
          <a:xfrm>
            <a:off x="566928" y="658368"/>
            <a:ext cx="109728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183148"/>
                </a:solidFill>
              </a:rPr>
              <a:t>From practice to extension examples</a:t>
            </a:r>
            <a:endParaRPr/>
          </a:p>
        </p:txBody>
      </p:sp>
      <p:sp>
        <p:nvSpPr>
          <p:cNvPr id="127" name="Google Shape;127;p15"/>
          <p:cNvSpPr txBox="1"/>
          <p:nvPr/>
        </p:nvSpPr>
        <p:spPr>
          <a:xfrm>
            <a:off x="502920" y="6547104"/>
            <a:ext cx="91440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536676"/>
                </a:solidFill>
                <a:latin typeface="Arial"/>
                <a:ea typeface="Arial"/>
                <a:cs typeface="Arial"/>
                <a:sym typeface="Arial"/>
              </a:rPr>
              <a:t>LJC–TYC SUMMER SCHOOL  ·  ATOMIC-SCALE MODELLING</a:t>
            </a:r>
            <a:endParaRPr/>
          </a:p>
        </p:txBody>
      </p:sp>
      <p:sp>
        <p:nvSpPr>
          <p:cNvPr id="128" name="Google Shape;128;p15"/>
          <p:cNvSpPr txBox="1"/>
          <p:nvPr/>
        </p:nvSpPr>
        <p:spPr>
          <a:xfrm>
            <a:off x="11292840" y="6510528"/>
            <a:ext cx="3657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536676"/>
                </a:solidFill>
              </a:rPr>
              <a:t>03</a:t>
            </a:r>
            <a:endParaRPr/>
          </a:p>
        </p:txBody>
      </p:sp>
      <p:sp>
        <p:nvSpPr>
          <p:cNvPr id="129" name="Google Shape;129;p15"/>
          <p:cNvSpPr/>
          <p:nvPr/>
        </p:nvSpPr>
        <p:spPr>
          <a:xfrm>
            <a:off x="621792" y="1481328"/>
            <a:ext cx="10945368" cy="804672"/>
          </a:xfrm>
          <a:prstGeom prst="roundRect">
            <a:avLst>
              <a:gd fmla="val 8000" name="adj"/>
            </a:avLst>
          </a:prstGeom>
          <a:solidFill>
            <a:srgbClr val="183148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15"/>
          <p:cNvSpPr/>
          <p:nvPr/>
        </p:nvSpPr>
        <p:spPr>
          <a:xfrm>
            <a:off x="841248" y="1664208"/>
            <a:ext cx="640080" cy="420624"/>
          </a:xfrm>
          <a:prstGeom prst="roundRect">
            <a:avLst>
              <a:gd fmla="val 8000" name="adj"/>
            </a:avLst>
          </a:prstGeom>
          <a:solidFill>
            <a:srgbClr val="25848B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15"/>
          <p:cNvSpPr txBox="1"/>
          <p:nvPr/>
        </p:nvSpPr>
        <p:spPr>
          <a:xfrm>
            <a:off x="841248" y="1682496"/>
            <a:ext cx="6400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FFFFFF"/>
                </a:solidFill>
              </a:rPr>
              <a:t>T01</a:t>
            </a:r>
            <a:endParaRPr/>
          </a:p>
        </p:txBody>
      </p:sp>
      <p:sp>
        <p:nvSpPr>
          <p:cNvPr id="132" name="Google Shape;132;p15"/>
          <p:cNvSpPr txBox="1"/>
          <p:nvPr/>
        </p:nvSpPr>
        <p:spPr>
          <a:xfrm>
            <a:off x="1719072" y="1572768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87D9D7"/>
                </a:solidFill>
              </a:rPr>
              <a:t>MACE Practice I</a:t>
            </a:r>
            <a:endParaRPr/>
          </a:p>
        </p:txBody>
      </p:sp>
      <p:sp>
        <p:nvSpPr>
          <p:cNvPr id="133" name="Google Shape;133;p15"/>
          <p:cNvSpPr txBox="1"/>
          <p:nvPr/>
        </p:nvSpPr>
        <p:spPr>
          <a:xfrm>
            <a:off x="1719072" y="1847088"/>
            <a:ext cx="905256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FFFFFF"/>
                </a:solidFill>
              </a:rPr>
              <a:t>Inspect data · fit · evaluate a MACE model</a:t>
            </a:r>
            <a:endParaRPr/>
          </a:p>
        </p:txBody>
      </p:sp>
      <p:sp>
        <p:nvSpPr>
          <p:cNvPr id="134" name="Google Shape;134;p15"/>
          <p:cNvSpPr/>
          <p:nvPr/>
        </p:nvSpPr>
        <p:spPr>
          <a:xfrm>
            <a:off x="621792" y="2578608"/>
            <a:ext cx="5376672" cy="1170432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5225">
            <a:solidFill>
              <a:srgbClr val="E9EFF4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15"/>
          <p:cNvSpPr/>
          <p:nvPr/>
        </p:nvSpPr>
        <p:spPr>
          <a:xfrm>
            <a:off x="621792" y="2578608"/>
            <a:ext cx="73152" cy="1170432"/>
          </a:xfrm>
          <a:prstGeom prst="rect">
            <a:avLst/>
          </a:prstGeom>
          <a:solidFill>
            <a:srgbClr val="25848B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15"/>
          <p:cNvSpPr txBox="1"/>
          <p:nvPr/>
        </p:nvSpPr>
        <p:spPr>
          <a:xfrm>
            <a:off x="841248" y="2724912"/>
            <a:ext cx="4901184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183148"/>
                </a:solidFill>
              </a:rPr>
              <a:t>CORE · T02</a:t>
            </a:r>
            <a:endParaRPr/>
          </a:p>
        </p:txBody>
      </p:sp>
      <p:sp>
        <p:nvSpPr>
          <p:cNvPr id="137" name="Google Shape;137;p15"/>
          <p:cNvSpPr txBox="1"/>
          <p:nvPr/>
        </p:nvSpPr>
        <p:spPr>
          <a:xfrm>
            <a:off x="841248" y="3054096"/>
            <a:ext cx="4828032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25848B"/>
                </a:solidFill>
              </a:rPr>
              <a:t>MACE Practice II</a:t>
            </a:r>
            <a:endParaRPr/>
          </a:p>
        </p:txBody>
      </p:sp>
      <p:sp>
        <p:nvSpPr>
          <p:cNvPr id="138" name="Google Shape;138;p15"/>
          <p:cNvSpPr txBox="1"/>
          <p:nvPr/>
        </p:nvSpPr>
        <p:spPr>
          <a:xfrm>
            <a:off x="841248" y="3328415"/>
            <a:ext cx="4828032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536676"/>
                </a:solidFill>
              </a:rPr>
              <a:t>Iterative training · active learning · fine-tuning</a:t>
            </a:r>
            <a:endParaRPr/>
          </a:p>
        </p:txBody>
      </p:sp>
      <p:sp>
        <p:nvSpPr>
          <p:cNvPr id="139" name="Google Shape;139;p15"/>
          <p:cNvSpPr/>
          <p:nvPr/>
        </p:nvSpPr>
        <p:spPr>
          <a:xfrm>
            <a:off x="6190488" y="2578608"/>
            <a:ext cx="5376672" cy="1170432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5225">
            <a:solidFill>
              <a:srgbClr val="E9EFF4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15"/>
          <p:cNvSpPr/>
          <p:nvPr/>
        </p:nvSpPr>
        <p:spPr>
          <a:xfrm>
            <a:off x="6190488" y="2578608"/>
            <a:ext cx="73152" cy="1170432"/>
          </a:xfrm>
          <a:prstGeom prst="rect">
            <a:avLst/>
          </a:prstGeom>
          <a:solidFill>
            <a:srgbClr val="437EAB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15"/>
          <p:cNvSpPr txBox="1"/>
          <p:nvPr/>
        </p:nvSpPr>
        <p:spPr>
          <a:xfrm>
            <a:off x="6409944" y="2724912"/>
            <a:ext cx="4901184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183148"/>
                </a:solidFill>
              </a:rPr>
              <a:t>OPTIONAL · T03</a:t>
            </a:r>
            <a:endParaRPr/>
          </a:p>
        </p:txBody>
      </p:sp>
      <p:sp>
        <p:nvSpPr>
          <p:cNvPr id="142" name="Google Shape;142;p15"/>
          <p:cNvSpPr txBox="1"/>
          <p:nvPr/>
        </p:nvSpPr>
        <p:spPr>
          <a:xfrm>
            <a:off x="6409944" y="3054096"/>
            <a:ext cx="4828032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437EAB"/>
                </a:solidFill>
              </a:rPr>
              <a:t>MACE Theory</a:t>
            </a:r>
            <a:endParaRPr/>
          </a:p>
        </p:txBody>
      </p:sp>
      <p:sp>
        <p:nvSpPr>
          <p:cNvPr id="143" name="Google Shape;143;p15"/>
          <p:cNvSpPr txBox="1"/>
          <p:nvPr/>
        </p:nvSpPr>
        <p:spPr>
          <a:xfrm>
            <a:off x="6409944" y="3328415"/>
            <a:ext cx="4828032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536676"/>
                </a:solidFill>
              </a:rPr>
              <a:t>Architecture · Will Baldwin, based on Ilyes Batatia</a:t>
            </a:r>
            <a:endParaRPr/>
          </a:p>
        </p:txBody>
      </p:sp>
      <p:sp>
        <p:nvSpPr>
          <p:cNvPr id="144" name="Google Shape;144;p15"/>
          <p:cNvSpPr/>
          <p:nvPr/>
        </p:nvSpPr>
        <p:spPr>
          <a:xfrm>
            <a:off x="621792" y="4014215"/>
            <a:ext cx="5376672" cy="1170432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5225">
            <a:solidFill>
              <a:srgbClr val="E9EFF4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5"/>
          <p:cNvSpPr/>
          <p:nvPr/>
        </p:nvSpPr>
        <p:spPr>
          <a:xfrm>
            <a:off x="621792" y="4014215"/>
            <a:ext cx="73152" cy="1170432"/>
          </a:xfrm>
          <a:prstGeom prst="rect">
            <a:avLst/>
          </a:prstGeom>
          <a:solidFill>
            <a:srgbClr val="BF554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15"/>
          <p:cNvSpPr txBox="1"/>
          <p:nvPr/>
        </p:nvSpPr>
        <p:spPr>
          <a:xfrm>
            <a:off x="841248" y="4160520"/>
            <a:ext cx="4901184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183148"/>
                </a:solidFill>
              </a:rPr>
              <a:t>OPTIONAL · T04–T05</a:t>
            </a:r>
            <a:endParaRPr/>
          </a:p>
        </p:txBody>
      </p:sp>
      <p:sp>
        <p:nvSpPr>
          <p:cNvPr id="147" name="Google Shape;147;p15"/>
          <p:cNvSpPr txBox="1"/>
          <p:nvPr/>
        </p:nvSpPr>
        <p:spPr>
          <a:xfrm>
            <a:off x="841248" y="4489704"/>
            <a:ext cx="4828032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BF554E"/>
                </a:solidFill>
              </a:rPr>
              <a:t>Advanced applications</a:t>
            </a:r>
            <a:endParaRPr/>
          </a:p>
        </p:txBody>
      </p:sp>
      <p:sp>
        <p:nvSpPr>
          <p:cNvPr id="148" name="Google Shape;148;p15"/>
          <p:cNvSpPr txBox="1"/>
          <p:nvPr/>
        </p:nvSpPr>
        <p:spPr>
          <a:xfrm>
            <a:off x="841248" y="4764024"/>
            <a:ext cx="4828032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536676"/>
                </a:solidFill>
              </a:rPr>
              <a:t>Li diffusion · molecular NEB · MLIP workflows</a:t>
            </a:r>
            <a:endParaRPr/>
          </a:p>
        </p:txBody>
      </p:sp>
      <p:sp>
        <p:nvSpPr>
          <p:cNvPr id="149" name="Google Shape;149;p15"/>
          <p:cNvSpPr/>
          <p:nvPr/>
        </p:nvSpPr>
        <p:spPr>
          <a:xfrm>
            <a:off x="6190488" y="4014215"/>
            <a:ext cx="5376672" cy="1170432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5225">
            <a:solidFill>
              <a:srgbClr val="E9EFF4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15"/>
          <p:cNvSpPr/>
          <p:nvPr/>
        </p:nvSpPr>
        <p:spPr>
          <a:xfrm>
            <a:off x="6190488" y="4014215"/>
            <a:ext cx="73152" cy="1170432"/>
          </a:xfrm>
          <a:prstGeom prst="rect">
            <a:avLst/>
          </a:prstGeom>
          <a:solidFill>
            <a:srgbClr val="488F6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15"/>
          <p:cNvSpPr txBox="1"/>
          <p:nvPr/>
        </p:nvSpPr>
        <p:spPr>
          <a:xfrm>
            <a:off x="6409944" y="4160520"/>
            <a:ext cx="4901184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183148"/>
                </a:solidFill>
              </a:rPr>
              <a:t>FINAL DEMOS · MACE_extensions/</a:t>
            </a:r>
            <a:endParaRPr/>
          </a:p>
        </p:txBody>
      </p:sp>
      <p:sp>
        <p:nvSpPr>
          <p:cNvPr id="152" name="Google Shape;152;p15"/>
          <p:cNvSpPr txBox="1"/>
          <p:nvPr/>
        </p:nvSpPr>
        <p:spPr>
          <a:xfrm>
            <a:off x="6409944" y="4489704"/>
            <a:ext cx="4828032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488F69"/>
                </a:solidFill>
              </a:rPr>
              <a:t>Selected model examples</a:t>
            </a:r>
            <a:endParaRPr/>
          </a:p>
        </p:txBody>
      </p:sp>
      <p:sp>
        <p:nvSpPr>
          <p:cNvPr id="153" name="Google Shape;153;p15"/>
          <p:cNvSpPr txBox="1"/>
          <p:nvPr/>
        </p:nvSpPr>
        <p:spPr>
          <a:xfrm>
            <a:off x="6409944" y="4764024"/>
            <a:ext cx="4828032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536676"/>
                </a:solidFill>
              </a:rPr>
              <a:t>Field · dipole · magnetism · long-range electrostatics</a:t>
            </a:r>
            <a:endParaRPr/>
          </a:p>
        </p:txBody>
      </p:sp>
      <p:sp>
        <p:nvSpPr>
          <p:cNvPr id="154" name="Google Shape;154;p15"/>
          <p:cNvSpPr txBox="1"/>
          <p:nvPr/>
        </p:nvSpPr>
        <p:spPr>
          <a:xfrm>
            <a:off x="658368" y="5605272"/>
            <a:ext cx="10789920" cy="39319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223443"/>
                </a:solidFill>
              </a:rPr>
              <a:t>Core route: Practice I → Practice II. Advanced notebooks are optional; selected extensions are demonstrated in the final 30–45 minutes.</a:t>
            </a:r>
            <a:endParaRPr/>
          </a:p>
        </p:txBody>
      </p:sp>
      <p:sp>
        <p:nvSpPr>
          <p:cNvPr id="155" name="Google Shape;155;p15"/>
          <p:cNvSpPr txBox="1"/>
          <p:nvPr/>
        </p:nvSpPr>
        <p:spPr>
          <a:xfrm>
            <a:off x="658368" y="6044184"/>
            <a:ext cx="10789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536676"/>
                </a:solidFill>
              </a:rPr>
              <a:t>Folders: MACE_in_practice_I/ · MACE_in_practice_II/ · MACE_advanced/ · MACE_extensions/.</a:t>
            </a:r>
            <a:endParaRPr sz="1100">
              <a:solidFill>
                <a:srgbClr val="536676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536676"/>
                </a:solidFill>
              </a:rPr>
              <a:t>Source notebooks: Ioan Magdău, Ilyes Batatia and Will Baldwin; refined by Ioan Magdău and Alin Elena. Extensions: Bradley Martin.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9FB"/>
        </a:solid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16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83148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16"/>
          <p:cNvSpPr txBox="1"/>
          <p:nvPr/>
        </p:nvSpPr>
        <p:spPr>
          <a:xfrm>
            <a:off x="566928" y="347472"/>
            <a:ext cx="109728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5848B"/>
                </a:solidFill>
                <a:latin typeface="Arial"/>
                <a:ea typeface="Arial"/>
                <a:cs typeface="Arial"/>
                <a:sym typeface="Arial"/>
              </a:rPr>
              <a:t>LENNARD-JONES CENTRE · UNIVERSITY OF CAMBRIDGE</a:t>
            </a:r>
            <a:endParaRPr/>
          </a:p>
        </p:txBody>
      </p:sp>
      <p:sp>
        <p:nvSpPr>
          <p:cNvPr id="162" name="Google Shape;162;p16"/>
          <p:cNvSpPr txBox="1"/>
          <p:nvPr/>
        </p:nvSpPr>
        <p:spPr>
          <a:xfrm>
            <a:off x="566928" y="658368"/>
            <a:ext cx="109728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183148"/>
                </a:solidFill>
              </a:rPr>
              <a:t>Closing discussion: where extensions change MACE</a:t>
            </a:r>
            <a:endParaRPr/>
          </a:p>
        </p:txBody>
      </p:sp>
      <p:sp>
        <p:nvSpPr>
          <p:cNvPr id="163" name="Google Shape;163;p16"/>
          <p:cNvSpPr txBox="1"/>
          <p:nvPr/>
        </p:nvSpPr>
        <p:spPr>
          <a:xfrm>
            <a:off x="502920" y="6547104"/>
            <a:ext cx="91440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536676"/>
                </a:solidFill>
                <a:latin typeface="Arial"/>
                <a:ea typeface="Arial"/>
                <a:cs typeface="Arial"/>
                <a:sym typeface="Arial"/>
              </a:rPr>
              <a:t>LJC–TYC SUMMER SCHOOL  ·  ATOMIC-SCALE MODELLING</a:t>
            </a:r>
            <a:endParaRPr/>
          </a:p>
        </p:txBody>
      </p:sp>
      <p:sp>
        <p:nvSpPr>
          <p:cNvPr id="164" name="Google Shape;164;p16"/>
          <p:cNvSpPr txBox="1"/>
          <p:nvPr/>
        </p:nvSpPr>
        <p:spPr>
          <a:xfrm>
            <a:off x="11292840" y="6510528"/>
            <a:ext cx="3657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536676"/>
                </a:solidFill>
              </a:rPr>
              <a:t>04</a:t>
            </a:r>
            <a:endParaRPr/>
          </a:p>
        </p:txBody>
      </p:sp>
      <p:sp>
        <p:nvSpPr>
          <p:cNvPr id="165" name="Google Shape;165;p16"/>
          <p:cNvSpPr txBox="1"/>
          <p:nvPr/>
        </p:nvSpPr>
        <p:spPr>
          <a:xfrm>
            <a:off x="594360" y="1353312"/>
            <a:ext cx="109270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rgbClr val="536676"/>
                </a:solidFill>
              </a:rPr>
              <a:t>Use this map to introduce selected adaptations in the final 30–45 minute demonstration.</a:t>
            </a:r>
            <a:endParaRPr/>
          </a:p>
        </p:txBody>
      </p:sp>
      <p:sp>
        <p:nvSpPr>
          <p:cNvPr id="166" name="Google Shape;166;p16"/>
          <p:cNvSpPr/>
          <p:nvPr/>
        </p:nvSpPr>
        <p:spPr>
          <a:xfrm>
            <a:off x="640080" y="2249424"/>
            <a:ext cx="2880360" cy="1078992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5225">
            <a:solidFill>
              <a:srgbClr val="E9EFF4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16"/>
          <p:cNvSpPr/>
          <p:nvPr/>
        </p:nvSpPr>
        <p:spPr>
          <a:xfrm>
            <a:off x="640080" y="2249424"/>
            <a:ext cx="73152" cy="1078992"/>
          </a:xfrm>
          <a:prstGeom prst="rect">
            <a:avLst/>
          </a:prstGeom>
          <a:solidFill>
            <a:srgbClr val="25848B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16"/>
          <p:cNvSpPr txBox="1"/>
          <p:nvPr/>
        </p:nvSpPr>
        <p:spPr>
          <a:xfrm>
            <a:off x="841247" y="2395728"/>
            <a:ext cx="25603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5848B"/>
                </a:solidFill>
                <a:latin typeface="Arial"/>
                <a:ea typeface="Arial"/>
                <a:cs typeface="Arial"/>
                <a:sym typeface="Arial"/>
              </a:rPr>
              <a:t>STRUCTURE + STATE</a:t>
            </a:r>
            <a:endParaRPr/>
          </a:p>
        </p:txBody>
      </p:sp>
      <p:sp>
        <p:nvSpPr>
          <p:cNvPr id="169" name="Google Shape;169;p16"/>
          <p:cNvSpPr txBox="1"/>
          <p:nvPr/>
        </p:nvSpPr>
        <p:spPr>
          <a:xfrm>
            <a:off x="841247" y="2706624"/>
            <a:ext cx="2532888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23443"/>
                </a:solidFill>
                <a:latin typeface="Arial"/>
                <a:ea typeface="Arial"/>
                <a:cs typeface="Arial"/>
                <a:sym typeface="Arial"/>
              </a:rPr>
              <a:t>atoms, geometry, cell</a:t>
            </a:r>
            <a:br>
              <a:rPr b="0" i="0" lang="en-US" sz="1500" u="none" cap="none" strike="noStrike">
                <a:solidFill>
                  <a:srgbClr val="223443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500" u="none" cap="none" strike="noStrike">
                <a:solidFill>
                  <a:srgbClr val="223443"/>
                </a:solidFill>
                <a:latin typeface="Arial"/>
                <a:ea typeface="Arial"/>
                <a:cs typeface="Arial"/>
                <a:sym typeface="Arial"/>
              </a:rPr>
              <a:t>plus field / moments</a:t>
            </a:r>
            <a:endParaRPr/>
          </a:p>
        </p:txBody>
      </p:sp>
      <p:sp>
        <p:nvSpPr>
          <p:cNvPr id="170" name="Google Shape;170;p16"/>
          <p:cNvSpPr/>
          <p:nvPr/>
        </p:nvSpPr>
        <p:spPr>
          <a:xfrm>
            <a:off x="4617720" y="2249424"/>
            <a:ext cx="2880360" cy="1078992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5225">
            <a:solidFill>
              <a:srgbClr val="E9EFF4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16"/>
          <p:cNvSpPr/>
          <p:nvPr/>
        </p:nvSpPr>
        <p:spPr>
          <a:xfrm>
            <a:off x="4617720" y="2249424"/>
            <a:ext cx="73152" cy="1078992"/>
          </a:xfrm>
          <a:prstGeom prst="rect">
            <a:avLst/>
          </a:prstGeom>
          <a:solidFill>
            <a:srgbClr val="437EAB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6"/>
          <p:cNvSpPr txBox="1"/>
          <p:nvPr/>
        </p:nvSpPr>
        <p:spPr>
          <a:xfrm>
            <a:off x="4818888" y="2395728"/>
            <a:ext cx="25603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437EAB"/>
                </a:solidFill>
                <a:latin typeface="Arial"/>
                <a:ea typeface="Arial"/>
                <a:cs typeface="Arial"/>
                <a:sym typeface="Arial"/>
              </a:rPr>
              <a:t>EQUIVARIANT TRUNK</a:t>
            </a:r>
            <a:endParaRPr/>
          </a:p>
        </p:txBody>
      </p:sp>
      <p:sp>
        <p:nvSpPr>
          <p:cNvPr id="173" name="Google Shape;173;p16"/>
          <p:cNvSpPr txBox="1"/>
          <p:nvPr/>
        </p:nvSpPr>
        <p:spPr>
          <a:xfrm>
            <a:off x="4818888" y="2706624"/>
            <a:ext cx="2532888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23443"/>
                </a:solidFill>
                <a:latin typeface="Arial"/>
                <a:ea typeface="Arial"/>
                <a:cs typeface="Arial"/>
                <a:sym typeface="Arial"/>
              </a:rPr>
              <a:t>embeddings · interactions</a:t>
            </a:r>
            <a:br>
              <a:rPr b="0" i="0" lang="en-US" sz="1500" u="none" cap="none" strike="noStrike">
                <a:solidFill>
                  <a:srgbClr val="223443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500" u="none" cap="none" strike="noStrike">
                <a:solidFill>
                  <a:srgbClr val="223443"/>
                </a:solidFill>
                <a:latin typeface="Arial"/>
                <a:ea typeface="Arial"/>
                <a:cs typeface="Arial"/>
                <a:sym typeface="Arial"/>
              </a:rPr>
              <a:t>products · readouts</a:t>
            </a:r>
            <a:endParaRPr/>
          </a:p>
        </p:txBody>
      </p:sp>
      <p:sp>
        <p:nvSpPr>
          <p:cNvPr id="174" name="Google Shape;174;p16"/>
          <p:cNvSpPr/>
          <p:nvPr/>
        </p:nvSpPr>
        <p:spPr>
          <a:xfrm>
            <a:off x="8595360" y="2249424"/>
            <a:ext cx="2880360" cy="1078992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5225">
            <a:solidFill>
              <a:srgbClr val="E9EFF4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16"/>
          <p:cNvSpPr/>
          <p:nvPr/>
        </p:nvSpPr>
        <p:spPr>
          <a:xfrm>
            <a:off x="8595360" y="2249424"/>
            <a:ext cx="73152" cy="1078992"/>
          </a:xfrm>
          <a:prstGeom prst="rect">
            <a:avLst/>
          </a:prstGeom>
          <a:solidFill>
            <a:srgbClr val="D9A44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16"/>
          <p:cNvSpPr txBox="1"/>
          <p:nvPr/>
        </p:nvSpPr>
        <p:spPr>
          <a:xfrm>
            <a:off x="8796528" y="2395728"/>
            <a:ext cx="25603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D9A441"/>
                </a:solidFill>
                <a:latin typeface="Arial"/>
                <a:ea typeface="Arial"/>
                <a:cs typeface="Arial"/>
                <a:sym typeface="Arial"/>
              </a:rPr>
              <a:t>PHYSICAL OUTPUT</a:t>
            </a:r>
            <a:endParaRPr/>
          </a:p>
        </p:txBody>
      </p:sp>
      <p:sp>
        <p:nvSpPr>
          <p:cNvPr id="177" name="Google Shape;177;p16"/>
          <p:cNvSpPr txBox="1"/>
          <p:nvPr/>
        </p:nvSpPr>
        <p:spPr>
          <a:xfrm>
            <a:off x="8796528" y="2706624"/>
            <a:ext cx="2532888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23443"/>
                </a:solidFill>
                <a:latin typeface="Arial"/>
                <a:ea typeface="Arial"/>
                <a:cs typeface="Arial"/>
                <a:sym typeface="Arial"/>
              </a:rPr>
              <a:t>energy and derivatives</a:t>
            </a:r>
            <a:br>
              <a:rPr b="0" i="0" lang="en-US" sz="1500" u="none" cap="none" strike="noStrike">
                <a:solidFill>
                  <a:srgbClr val="223443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500" u="none" cap="none" strike="noStrike">
                <a:solidFill>
                  <a:srgbClr val="223443"/>
                </a:solidFill>
                <a:latin typeface="Arial"/>
                <a:ea typeface="Arial"/>
                <a:cs typeface="Arial"/>
                <a:sym typeface="Arial"/>
              </a:rPr>
              <a:t>or a symmetry-correct property</a:t>
            </a:r>
            <a:endParaRPr/>
          </a:p>
        </p:txBody>
      </p:sp>
      <p:cxnSp>
        <p:nvCxnSpPr>
          <p:cNvPr id="178" name="Google Shape;178;p16"/>
          <p:cNvCxnSpPr/>
          <p:nvPr/>
        </p:nvCxnSpPr>
        <p:spPr>
          <a:xfrm>
            <a:off x="3566160" y="2788920"/>
            <a:ext cx="896112" cy="0"/>
          </a:xfrm>
          <a:prstGeom prst="straightConnector1">
            <a:avLst/>
          </a:prstGeom>
          <a:noFill/>
          <a:ln cap="flat" cmpd="sng" w="25400">
            <a:solidFill>
              <a:srgbClr val="53667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cxnSp>
        <p:nvCxnSpPr>
          <p:cNvPr id="179" name="Google Shape;179;p16"/>
          <p:cNvCxnSpPr/>
          <p:nvPr/>
        </p:nvCxnSpPr>
        <p:spPr>
          <a:xfrm>
            <a:off x="7543800" y="2788920"/>
            <a:ext cx="896112" cy="0"/>
          </a:xfrm>
          <a:prstGeom prst="straightConnector1">
            <a:avLst/>
          </a:prstGeom>
          <a:noFill/>
          <a:ln cap="flat" cmpd="sng" w="25400">
            <a:solidFill>
              <a:srgbClr val="53667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180" name="Google Shape;180;p16"/>
          <p:cNvSpPr txBox="1"/>
          <p:nvPr/>
        </p:nvSpPr>
        <p:spPr>
          <a:xfrm>
            <a:off x="621792" y="3822191"/>
            <a:ext cx="109728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183148"/>
                </a:solidFill>
              </a:rPr>
              <a:t>Four adaptation patterns in the extension folder</a:t>
            </a:r>
            <a:endParaRPr/>
          </a:p>
        </p:txBody>
      </p:sp>
      <p:sp>
        <p:nvSpPr>
          <p:cNvPr id="181" name="Google Shape;181;p16"/>
          <p:cNvSpPr/>
          <p:nvPr/>
        </p:nvSpPr>
        <p:spPr>
          <a:xfrm>
            <a:off x="658368" y="4261104"/>
            <a:ext cx="1353312" cy="310896"/>
          </a:xfrm>
          <a:prstGeom prst="roundRect">
            <a:avLst>
              <a:gd fmla="val 8000" name="adj"/>
            </a:avLst>
          </a:prstGeom>
          <a:solidFill>
            <a:srgbClr val="25848B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16"/>
          <p:cNvSpPr txBox="1"/>
          <p:nvPr/>
        </p:nvSpPr>
        <p:spPr>
          <a:xfrm>
            <a:off x="713232" y="4270248"/>
            <a:ext cx="12435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FIELD</a:t>
            </a:r>
            <a:endParaRPr/>
          </a:p>
        </p:txBody>
      </p:sp>
      <p:sp>
        <p:nvSpPr>
          <p:cNvPr id="183" name="Google Shape;183;p16"/>
          <p:cNvSpPr txBox="1"/>
          <p:nvPr/>
        </p:nvSpPr>
        <p:spPr>
          <a:xfrm>
            <a:off x="2212848" y="4256532"/>
            <a:ext cx="90525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23443"/>
                </a:solidFill>
                <a:latin typeface="Arial"/>
                <a:ea typeface="Arial"/>
                <a:cs typeface="Arial"/>
                <a:sym typeface="Arial"/>
              </a:rPr>
              <a:t>MACEField · field-conditioned energy &amp; polarization</a:t>
            </a:r>
            <a:endParaRPr/>
          </a:p>
        </p:txBody>
      </p:sp>
      <p:sp>
        <p:nvSpPr>
          <p:cNvPr id="184" name="Google Shape;184;p16"/>
          <p:cNvSpPr/>
          <p:nvPr/>
        </p:nvSpPr>
        <p:spPr>
          <a:xfrm>
            <a:off x="658368" y="4700016"/>
            <a:ext cx="1353312" cy="310896"/>
          </a:xfrm>
          <a:prstGeom prst="roundRect">
            <a:avLst>
              <a:gd fmla="val 8000" name="adj"/>
            </a:avLst>
          </a:prstGeom>
          <a:solidFill>
            <a:srgbClr val="437EAB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16"/>
          <p:cNvSpPr txBox="1"/>
          <p:nvPr/>
        </p:nvSpPr>
        <p:spPr>
          <a:xfrm>
            <a:off x="713232" y="4709160"/>
            <a:ext cx="12435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DIPOLE</a:t>
            </a:r>
            <a:endParaRPr/>
          </a:p>
        </p:txBody>
      </p:sp>
      <p:sp>
        <p:nvSpPr>
          <p:cNvPr id="186" name="Google Shape;186;p16"/>
          <p:cNvSpPr txBox="1"/>
          <p:nvPr/>
        </p:nvSpPr>
        <p:spPr>
          <a:xfrm>
            <a:off x="2212848" y="4695444"/>
            <a:ext cx="90525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23443"/>
                </a:solidFill>
                <a:latin typeface="Arial"/>
                <a:ea typeface="Arial"/>
                <a:cs typeface="Arial"/>
                <a:sym typeface="Arial"/>
              </a:rPr>
              <a:t>AtomicDipolesMACE · equivariant vector readout</a:t>
            </a:r>
            <a:endParaRPr/>
          </a:p>
        </p:txBody>
      </p:sp>
      <p:sp>
        <p:nvSpPr>
          <p:cNvPr id="187" name="Google Shape;187;p16"/>
          <p:cNvSpPr/>
          <p:nvPr/>
        </p:nvSpPr>
        <p:spPr>
          <a:xfrm>
            <a:off x="658368" y="5138928"/>
            <a:ext cx="1353312" cy="310896"/>
          </a:xfrm>
          <a:prstGeom prst="roundRect">
            <a:avLst>
              <a:gd fmla="val 8000" name="adj"/>
            </a:avLst>
          </a:prstGeom>
          <a:solidFill>
            <a:srgbClr val="BF554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16"/>
          <p:cNvSpPr txBox="1"/>
          <p:nvPr/>
        </p:nvSpPr>
        <p:spPr>
          <a:xfrm>
            <a:off x="713232" y="5148072"/>
            <a:ext cx="12435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SPIN</a:t>
            </a:r>
            <a:endParaRPr/>
          </a:p>
        </p:txBody>
      </p:sp>
      <p:sp>
        <p:nvSpPr>
          <p:cNvPr id="189" name="Google Shape;189;p16"/>
          <p:cNvSpPr txBox="1"/>
          <p:nvPr/>
        </p:nvSpPr>
        <p:spPr>
          <a:xfrm>
            <a:off x="2212848" y="5134356"/>
            <a:ext cx="90525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23443"/>
                </a:solidFill>
                <a:latin typeface="Arial"/>
                <a:ea typeface="Arial"/>
                <a:cs typeface="Arial"/>
                <a:sym typeface="Arial"/>
              </a:rPr>
              <a:t>Magnetic MACE · moments condition the energy</a:t>
            </a:r>
            <a:endParaRPr/>
          </a:p>
        </p:txBody>
      </p:sp>
      <p:sp>
        <p:nvSpPr>
          <p:cNvPr id="190" name="Google Shape;190;p16"/>
          <p:cNvSpPr/>
          <p:nvPr/>
        </p:nvSpPr>
        <p:spPr>
          <a:xfrm>
            <a:off x="658368" y="5577840"/>
            <a:ext cx="1353312" cy="310896"/>
          </a:xfrm>
          <a:prstGeom prst="roundRect">
            <a:avLst>
              <a:gd fmla="val 8000" name="adj"/>
            </a:avLst>
          </a:prstGeom>
          <a:solidFill>
            <a:srgbClr val="488F6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16"/>
          <p:cNvSpPr txBox="1"/>
          <p:nvPr/>
        </p:nvSpPr>
        <p:spPr>
          <a:xfrm>
            <a:off x="713232" y="5586983"/>
            <a:ext cx="12435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LONG RANGE</a:t>
            </a:r>
            <a:endParaRPr/>
          </a:p>
        </p:txBody>
      </p:sp>
      <p:sp>
        <p:nvSpPr>
          <p:cNvPr id="192" name="Google Shape;192;p16"/>
          <p:cNvSpPr txBox="1"/>
          <p:nvPr/>
        </p:nvSpPr>
        <p:spPr>
          <a:xfrm>
            <a:off x="2212848" y="5573268"/>
            <a:ext cx="90525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23443"/>
                </a:solidFill>
                <a:latin typeface="Arial"/>
                <a:ea typeface="Arial"/>
                <a:cs typeface="Arial"/>
                <a:sym typeface="Arial"/>
              </a:rPr>
              <a:t>MACELES · explicit electrostatic energy branch</a:t>
            </a:r>
            <a:endParaRPr/>
          </a:p>
        </p:txBody>
      </p:sp>
      <p:sp>
        <p:nvSpPr>
          <p:cNvPr id="193" name="Google Shape;193;p16"/>
          <p:cNvSpPr txBox="1"/>
          <p:nvPr/>
        </p:nvSpPr>
        <p:spPr>
          <a:xfrm>
            <a:off x="640080" y="6153912"/>
            <a:ext cx="109728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536676"/>
                </a:solidFill>
              </a:rPr>
              <a:t>Use this architecture map to close with the extension examples most relevant to the group.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7"/>
          <p:cNvSpPr/>
          <p:nvPr/>
        </p:nvSpPr>
        <p:spPr>
          <a:xfrm>
            <a:off x="530352" y="502920"/>
            <a:ext cx="109800" cy="5898000"/>
          </a:xfrm>
          <a:prstGeom prst="rect">
            <a:avLst/>
          </a:prstGeom>
          <a:solidFill>
            <a:srgbClr val="25848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17"/>
          <p:cNvSpPr/>
          <p:nvPr/>
        </p:nvSpPr>
        <p:spPr>
          <a:xfrm>
            <a:off x="932688" y="4315968"/>
            <a:ext cx="10223100" cy="1261800"/>
          </a:xfrm>
          <a:prstGeom prst="roundRect">
            <a:avLst>
              <a:gd fmla="val 16667" name="adj"/>
            </a:avLst>
          </a:prstGeom>
          <a:solidFill>
            <a:srgbClr val="EDF5F4"/>
          </a:solidFill>
          <a:ln cap="flat" cmpd="sng" w="15250">
            <a:solidFill>
              <a:srgbClr val="D6E7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17"/>
          <p:cNvSpPr txBox="1"/>
          <p:nvPr/>
        </p:nvSpPr>
        <p:spPr>
          <a:xfrm>
            <a:off x="960120" y="566928"/>
            <a:ext cx="102414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258487"/>
                </a:solidFill>
              </a:rPr>
              <a:t>LJC–TYC SUMMER SCHOOL  ·  ATOMIC-SCALE MODELLING</a:t>
            </a:r>
            <a:endParaRPr b="1" sz="1100">
              <a:solidFill>
                <a:srgbClr val="258487"/>
              </a:solidFill>
            </a:endParaRPr>
          </a:p>
        </p:txBody>
      </p:sp>
      <p:sp>
        <p:nvSpPr>
          <p:cNvPr id="201" name="Google Shape;201;p17"/>
          <p:cNvSpPr txBox="1"/>
          <p:nvPr/>
        </p:nvSpPr>
        <p:spPr>
          <a:xfrm>
            <a:off x="932688" y="1325880"/>
            <a:ext cx="10332600" cy="82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200">
                <a:solidFill>
                  <a:srgbClr val="183149"/>
                </a:solidFill>
              </a:rPr>
              <a:t>Extending MACE</a:t>
            </a:r>
            <a:endParaRPr b="1" sz="4200">
              <a:solidFill>
                <a:srgbClr val="183149"/>
              </a:solidFill>
            </a:endParaRPr>
          </a:p>
        </p:txBody>
      </p:sp>
      <p:sp>
        <p:nvSpPr>
          <p:cNvPr id="202" name="Google Shape;202;p17"/>
          <p:cNvSpPr txBox="1"/>
          <p:nvPr/>
        </p:nvSpPr>
        <p:spPr>
          <a:xfrm>
            <a:off x="960120" y="2395728"/>
            <a:ext cx="99669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>
                <a:solidFill>
                  <a:srgbClr val="536C7C"/>
                </a:solidFill>
              </a:rPr>
              <a:t>A codebase-guided recipe, grounded in MACEField</a:t>
            </a:r>
            <a:endParaRPr sz="2100">
              <a:solidFill>
                <a:srgbClr val="536C7C"/>
              </a:solidFill>
            </a:endParaRPr>
          </a:p>
        </p:txBody>
      </p:sp>
      <p:sp>
        <p:nvSpPr>
          <p:cNvPr id="203" name="Google Shape;203;p17"/>
          <p:cNvSpPr txBox="1"/>
          <p:nvPr/>
        </p:nvSpPr>
        <p:spPr>
          <a:xfrm>
            <a:off x="1225296" y="4526280"/>
            <a:ext cx="42063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258487"/>
                </a:solidFill>
              </a:rPr>
              <a:t>PURPOSE</a:t>
            </a:r>
            <a:endParaRPr b="1" sz="1000">
              <a:solidFill>
                <a:srgbClr val="258487"/>
              </a:solidFill>
            </a:endParaRPr>
          </a:p>
        </p:txBody>
      </p:sp>
      <p:sp>
        <p:nvSpPr>
          <p:cNvPr id="204" name="Google Shape;204;p17"/>
          <p:cNvSpPr txBox="1"/>
          <p:nvPr/>
        </p:nvSpPr>
        <p:spPr>
          <a:xfrm>
            <a:off x="1225296" y="4828032"/>
            <a:ext cx="43890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183149"/>
                </a:solidFill>
              </a:rPr>
              <a:t>Trace one physical change through the MACE stack</a:t>
            </a:r>
            <a:endParaRPr b="1" sz="1700">
              <a:solidFill>
                <a:srgbClr val="183149"/>
              </a:solidFill>
            </a:endParaRPr>
          </a:p>
        </p:txBody>
      </p:sp>
      <p:sp>
        <p:nvSpPr>
          <p:cNvPr id="205" name="Google Shape;205;p17"/>
          <p:cNvSpPr txBox="1"/>
          <p:nvPr/>
        </p:nvSpPr>
        <p:spPr>
          <a:xfrm>
            <a:off x="6446520" y="4526280"/>
            <a:ext cx="4114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258487"/>
                </a:solidFill>
              </a:rPr>
              <a:t>WORKED EXAMPLE</a:t>
            </a:r>
            <a:endParaRPr b="1" sz="1000">
              <a:solidFill>
                <a:srgbClr val="258487"/>
              </a:solidFill>
            </a:endParaRPr>
          </a:p>
        </p:txBody>
      </p:sp>
      <p:sp>
        <p:nvSpPr>
          <p:cNvPr id="206" name="Google Shape;206;p17"/>
          <p:cNvSpPr txBox="1"/>
          <p:nvPr/>
        </p:nvSpPr>
        <p:spPr>
          <a:xfrm>
            <a:off x="6446520" y="4800600"/>
            <a:ext cx="42978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183149"/>
                </a:solidFill>
              </a:rPr>
              <a:t>MACEField</a:t>
            </a:r>
            <a:endParaRPr b="1" sz="1500">
              <a:solidFill>
                <a:srgbClr val="18314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183149"/>
                </a:solidFill>
              </a:rPr>
              <a:t>Field-dependent energy and response</a:t>
            </a:r>
            <a:endParaRPr b="1" sz="1500">
              <a:solidFill>
                <a:srgbClr val="183149"/>
              </a:solidFill>
            </a:endParaRPr>
          </a:p>
        </p:txBody>
      </p:sp>
      <p:sp>
        <p:nvSpPr>
          <p:cNvPr id="207" name="Google Shape;207;p17"/>
          <p:cNvSpPr txBox="1"/>
          <p:nvPr/>
        </p:nvSpPr>
        <p:spPr>
          <a:xfrm>
            <a:off x="960120" y="6281928"/>
            <a:ext cx="10058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536C7C"/>
                </a:solidFill>
              </a:rPr>
              <a:t>Lennard-Jones Centre and Thomas Young Centre · University of Cambridge</a:t>
            </a:r>
            <a:endParaRPr sz="1000">
              <a:solidFill>
                <a:srgbClr val="536C7C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9FB"/>
        </a:solidFill>
      </p:bgPr>
    </p:bg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18"/>
          <p:cNvSpPr/>
          <p:nvPr/>
        </p:nvSpPr>
        <p:spPr>
          <a:xfrm>
            <a:off x="0" y="0"/>
            <a:ext cx="12191700" cy="118800"/>
          </a:xfrm>
          <a:prstGeom prst="rect">
            <a:avLst/>
          </a:prstGeom>
          <a:solidFill>
            <a:srgbClr val="183148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18"/>
          <p:cNvSpPr txBox="1"/>
          <p:nvPr/>
        </p:nvSpPr>
        <p:spPr>
          <a:xfrm>
            <a:off x="566928" y="347472"/>
            <a:ext cx="109728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5848B"/>
                </a:solidFill>
                <a:latin typeface="Arial"/>
                <a:ea typeface="Arial"/>
                <a:cs typeface="Arial"/>
                <a:sym typeface="Arial"/>
              </a:rPr>
              <a:t>LENNARD-JONES CENTRE · UNIVERSITY OF CAMBRIDGE</a:t>
            </a:r>
            <a:endParaRPr/>
          </a:p>
        </p:txBody>
      </p:sp>
      <p:sp>
        <p:nvSpPr>
          <p:cNvPr id="214" name="Google Shape;214;p18"/>
          <p:cNvSpPr txBox="1"/>
          <p:nvPr/>
        </p:nvSpPr>
        <p:spPr>
          <a:xfrm>
            <a:off x="566928" y="658368"/>
            <a:ext cx="10972800" cy="56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183148"/>
                </a:solidFill>
              </a:rPr>
              <a:t>MACEField: an extension recipe</a:t>
            </a:r>
            <a:endParaRPr/>
          </a:p>
        </p:txBody>
      </p:sp>
      <p:sp>
        <p:nvSpPr>
          <p:cNvPr id="215" name="Google Shape;215;p18"/>
          <p:cNvSpPr txBox="1"/>
          <p:nvPr/>
        </p:nvSpPr>
        <p:spPr>
          <a:xfrm>
            <a:off x="502920" y="6547104"/>
            <a:ext cx="9144000" cy="16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536676"/>
                </a:solidFill>
                <a:latin typeface="Arial"/>
                <a:ea typeface="Arial"/>
                <a:cs typeface="Arial"/>
                <a:sym typeface="Arial"/>
              </a:rPr>
              <a:t>LJC–TYC SUMMER SCHOOL  ·  ATOMIC-SCALE MODELLING</a:t>
            </a:r>
            <a:endParaRPr/>
          </a:p>
        </p:txBody>
      </p:sp>
      <p:sp>
        <p:nvSpPr>
          <p:cNvPr id="216" name="Google Shape;216;p18"/>
          <p:cNvSpPr txBox="1"/>
          <p:nvPr/>
        </p:nvSpPr>
        <p:spPr>
          <a:xfrm>
            <a:off x="11292840" y="6510528"/>
            <a:ext cx="365700" cy="210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536676"/>
                </a:solidFill>
              </a:rPr>
              <a:t>06</a:t>
            </a:r>
            <a:endParaRPr/>
          </a:p>
        </p:txBody>
      </p:sp>
      <p:sp>
        <p:nvSpPr>
          <p:cNvPr id="217" name="Google Shape;217;p18"/>
          <p:cNvSpPr txBox="1"/>
          <p:nvPr/>
        </p:nvSpPr>
        <p:spPr>
          <a:xfrm>
            <a:off x="594360" y="1353312"/>
            <a:ext cx="109272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rgbClr val="536676"/>
                </a:solidFill>
              </a:rPr>
              <a:t>From the new physical variable to validation</a:t>
            </a:r>
            <a:endParaRPr/>
          </a:p>
        </p:txBody>
      </p:sp>
      <p:sp>
        <p:nvSpPr>
          <p:cNvPr id="218" name="Google Shape;218;p18"/>
          <p:cNvSpPr/>
          <p:nvPr/>
        </p:nvSpPr>
        <p:spPr>
          <a:xfrm>
            <a:off x="640080" y="2249424"/>
            <a:ext cx="2880300" cy="107910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5225">
            <a:solidFill>
              <a:srgbClr val="E9EFF4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18"/>
          <p:cNvSpPr/>
          <p:nvPr/>
        </p:nvSpPr>
        <p:spPr>
          <a:xfrm>
            <a:off x="640080" y="2249424"/>
            <a:ext cx="73200" cy="1079100"/>
          </a:xfrm>
          <a:prstGeom prst="rect">
            <a:avLst/>
          </a:prstGeom>
          <a:solidFill>
            <a:srgbClr val="25848B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18"/>
          <p:cNvSpPr txBox="1"/>
          <p:nvPr/>
        </p:nvSpPr>
        <p:spPr>
          <a:xfrm>
            <a:off x="841247" y="2395728"/>
            <a:ext cx="25602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25848B"/>
                </a:solidFill>
              </a:rPr>
              <a:t>INPUT + LABELS</a:t>
            </a:r>
            <a:endParaRPr/>
          </a:p>
        </p:txBody>
      </p:sp>
      <p:sp>
        <p:nvSpPr>
          <p:cNvPr id="221" name="Google Shape;221;p18"/>
          <p:cNvSpPr txBox="1"/>
          <p:nvPr/>
        </p:nvSpPr>
        <p:spPr>
          <a:xfrm>
            <a:off x="841247" y="2706624"/>
            <a:ext cx="25329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223443"/>
                </a:solidFill>
              </a:rPr>
              <a:t>electric field vector</a:t>
            </a:r>
            <a:br>
              <a:rPr b="0" i="0" lang="en-US" sz="1500" u="none" cap="none" strike="noStrike">
                <a:solidFill>
                  <a:srgbClr val="223443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500">
                <a:solidFill>
                  <a:srgbClr val="223443"/>
                </a:solidFill>
              </a:rPr>
              <a:t>energy + response targets</a:t>
            </a:r>
            <a:endParaRPr/>
          </a:p>
        </p:txBody>
      </p:sp>
      <p:sp>
        <p:nvSpPr>
          <p:cNvPr id="222" name="Google Shape;222;p18"/>
          <p:cNvSpPr/>
          <p:nvPr/>
        </p:nvSpPr>
        <p:spPr>
          <a:xfrm>
            <a:off x="4617720" y="2249424"/>
            <a:ext cx="2880300" cy="107910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5225">
            <a:solidFill>
              <a:srgbClr val="E9EFF4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18"/>
          <p:cNvSpPr/>
          <p:nvPr/>
        </p:nvSpPr>
        <p:spPr>
          <a:xfrm>
            <a:off x="4617720" y="2249424"/>
            <a:ext cx="73200" cy="1079100"/>
          </a:xfrm>
          <a:prstGeom prst="rect">
            <a:avLst/>
          </a:prstGeom>
          <a:solidFill>
            <a:srgbClr val="437EAB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18"/>
          <p:cNvSpPr txBox="1"/>
          <p:nvPr/>
        </p:nvSpPr>
        <p:spPr>
          <a:xfrm>
            <a:off x="4818888" y="2395728"/>
            <a:ext cx="25602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437EAB"/>
                </a:solidFill>
              </a:rPr>
              <a:t>MODEL PATH</a:t>
            </a:r>
            <a:endParaRPr/>
          </a:p>
        </p:txBody>
      </p:sp>
      <p:sp>
        <p:nvSpPr>
          <p:cNvPr id="225" name="Google Shape;225;p18"/>
          <p:cNvSpPr txBox="1"/>
          <p:nvPr/>
        </p:nvSpPr>
        <p:spPr>
          <a:xfrm>
            <a:off x="4818888" y="2706624"/>
            <a:ext cx="25329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223443"/>
                </a:solidFill>
              </a:rPr>
              <a:t>MACE trunk +</a:t>
            </a:r>
            <a:br>
              <a:rPr b="0" i="0" lang="en-US" sz="1500" u="none" cap="none" strike="noStrike">
                <a:solidFill>
                  <a:srgbClr val="223443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500">
                <a:solidFill>
                  <a:srgbClr val="223443"/>
                </a:solidFill>
              </a:rPr>
              <a:t>field adapters</a:t>
            </a:r>
            <a:endParaRPr/>
          </a:p>
        </p:txBody>
      </p:sp>
      <p:sp>
        <p:nvSpPr>
          <p:cNvPr id="226" name="Google Shape;226;p18"/>
          <p:cNvSpPr/>
          <p:nvPr/>
        </p:nvSpPr>
        <p:spPr>
          <a:xfrm>
            <a:off x="8595360" y="2249424"/>
            <a:ext cx="2880300" cy="107910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5225">
            <a:solidFill>
              <a:srgbClr val="E9EFF4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18"/>
          <p:cNvSpPr/>
          <p:nvPr/>
        </p:nvSpPr>
        <p:spPr>
          <a:xfrm>
            <a:off x="8595360" y="2249424"/>
            <a:ext cx="73200" cy="1079100"/>
          </a:xfrm>
          <a:prstGeom prst="rect">
            <a:avLst/>
          </a:prstGeom>
          <a:solidFill>
            <a:srgbClr val="D9A441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18"/>
          <p:cNvSpPr txBox="1"/>
          <p:nvPr/>
        </p:nvSpPr>
        <p:spPr>
          <a:xfrm>
            <a:off x="8796528" y="2395728"/>
            <a:ext cx="25602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D9A441"/>
                </a:solidFill>
              </a:rPr>
              <a:t>ENERGY + DERIVATIVES</a:t>
            </a:r>
            <a:endParaRPr/>
          </a:p>
        </p:txBody>
      </p:sp>
      <p:sp>
        <p:nvSpPr>
          <p:cNvPr id="229" name="Google Shape;229;p18"/>
          <p:cNvSpPr txBox="1"/>
          <p:nvPr/>
        </p:nvSpPr>
        <p:spPr>
          <a:xfrm>
            <a:off x="8796528" y="2706624"/>
            <a:ext cx="25329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223443"/>
                </a:solidFill>
              </a:rPr>
              <a:t>shared scalar energy</a:t>
            </a:r>
            <a:br>
              <a:rPr b="0" i="0" lang="en-US" sz="1500" u="none" cap="none" strike="noStrike">
                <a:solidFill>
                  <a:srgbClr val="223443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500">
                <a:solidFill>
                  <a:srgbClr val="223443"/>
                </a:solidFill>
              </a:rPr>
              <a:t>forces + field response</a:t>
            </a:r>
            <a:endParaRPr/>
          </a:p>
        </p:txBody>
      </p:sp>
      <p:cxnSp>
        <p:nvCxnSpPr>
          <p:cNvPr id="230" name="Google Shape;230;p18"/>
          <p:cNvCxnSpPr/>
          <p:nvPr/>
        </p:nvCxnSpPr>
        <p:spPr>
          <a:xfrm>
            <a:off x="3566160" y="2788920"/>
            <a:ext cx="896100" cy="0"/>
          </a:xfrm>
          <a:prstGeom prst="straightConnector1">
            <a:avLst/>
          </a:prstGeom>
          <a:noFill/>
          <a:ln cap="flat" cmpd="sng" w="25400">
            <a:solidFill>
              <a:srgbClr val="53667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40"/>
              </a:srgbClr>
            </a:outerShdw>
          </a:effectLst>
        </p:spPr>
      </p:cxnSp>
      <p:cxnSp>
        <p:nvCxnSpPr>
          <p:cNvPr id="231" name="Google Shape;231;p18"/>
          <p:cNvCxnSpPr/>
          <p:nvPr/>
        </p:nvCxnSpPr>
        <p:spPr>
          <a:xfrm>
            <a:off x="7543800" y="2788920"/>
            <a:ext cx="896100" cy="0"/>
          </a:xfrm>
          <a:prstGeom prst="straightConnector1">
            <a:avLst/>
          </a:prstGeom>
          <a:noFill/>
          <a:ln cap="flat" cmpd="sng" w="25400">
            <a:solidFill>
              <a:srgbClr val="53667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40"/>
              </a:srgbClr>
            </a:outerShdw>
          </a:effectLst>
        </p:spPr>
      </p:cxnSp>
      <p:sp>
        <p:nvSpPr>
          <p:cNvPr id="232" name="Google Shape;232;p18"/>
          <p:cNvSpPr txBox="1"/>
          <p:nvPr/>
        </p:nvSpPr>
        <p:spPr>
          <a:xfrm>
            <a:off x="621792" y="3822191"/>
            <a:ext cx="109728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183148"/>
                </a:solidFill>
              </a:rPr>
              <a:t>MACEField: one implementation path</a:t>
            </a:r>
            <a:endParaRPr/>
          </a:p>
        </p:txBody>
      </p:sp>
      <p:sp>
        <p:nvSpPr>
          <p:cNvPr id="233" name="Google Shape;233;p18"/>
          <p:cNvSpPr/>
          <p:nvPr/>
        </p:nvSpPr>
        <p:spPr>
          <a:xfrm>
            <a:off x="658368" y="4261104"/>
            <a:ext cx="1353300" cy="310800"/>
          </a:xfrm>
          <a:prstGeom prst="roundRect">
            <a:avLst>
              <a:gd fmla="val 8000" name="adj"/>
            </a:avLst>
          </a:prstGeom>
          <a:solidFill>
            <a:srgbClr val="25848B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18"/>
          <p:cNvSpPr txBox="1"/>
          <p:nvPr/>
        </p:nvSpPr>
        <p:spPr>
          <a:xfrm>
            <a:off x="713232" y="4270248"/>
            <a:ext cx="12435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FFFFFF"/>
                </a:solidFill>
              </a:rPr>
              <a:t>INPUTS</a:t>
            </a:r>
            <a:endParaRPr/>
          </a:p>
        </p:txBody>
      </p:sp>
      <p:sp>
        <p:nvSpPr>
          <p:cNvPr id="235" name="Google Shape;235;p18"/>
          <p:cNvSpPr txBox="1"/>
          <p:nvPr/>
        </p:nvSpPr>
        <p:spPr>
          <a:xfrm>
            <a:off x="2212848" y="4256532"/>
            <a:ext cx="90525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223443"/>
                </a:solidFill>
              </a:rPr>
              <a:t>ExtXYZ → AtomicData → labels, units and batching</a:t>
            </a:r>
            <a:endParaRPr/>
          </a:p>
        </p:txBody>
      </p:sp>
      <p:sp>
        <p:nvSpPr>
          <p:cNvPr id="236" name="Google Shape;236;p18"/>
          <p:cNvSpPr/>
          <p:nvPr/>
        </p:nvSpPr>
        <p:spPr>
          <a:xfrm>
            <a:off x="658368" y="4700016"/>
            <a:ext cx="1353300" cy="310800"/>
          </a:xfrm>
          <a:prstGeom prst="roundRect">
            <a:avLst>
              <a:gd fmla="val 8000" name="adj"/>
            </a:avLst>
          </a:prstGeom>
          <a:solidFill>
            <a:srgbClr val="437EAB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18"/>
          <p:cNvSpPr txBox="1"/>
          <p:nvPr/>
        </p:nvSpPr>
        <p:spPr>
          <a:xfrm>
            <a:off x="713232" y="4709160"/>
            <a:ext cx="12435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FFFFFF"/>
                </a:solidFill>
              </a:rPr>
              <a:t>MODEL</a:t>
            </a:r>
            <a:endParaRPr/>
          </a:p>
        </p:txBody>
      </p:sp>
      <p:sp>
        <p:nvSpPr>
          <p:cNvPr id="238" name="Google Shape;238;p18"/>
          <p:cNvSpPr txBox="1"/>
          <p:nvPr/>
        </p:nvSpPr>
        <p:spPr>
          <a:xfrm>
            <a:off x="2212848" y="4695444"/>
            <a:ext cx="90525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223443"/>
                </a:solidFill>
              </a:rPr>
              <a:t>models.py → extensions.py → field_blocks.py</a:t>
            </a:r>
            <a:endParaRPr/>
          </a:p>
        </p:txBody>
      </p:sp>
      <p:sp>
        <p:nvSpPr>
          <p:cNvPr id="239" name="Google Shape;239;p18"/>
          <p:cNvSpPr/>
          <p:nvPr/>
        </p:nvSpPr>
        <p:spPr>
          <a:xfrm>
            <a:off x="658368" y="5138928"/>
            <a:ext cx="1353300" cy="310800"/>
          </a:xfrm>
          <a:prstGeom prst="roundRect">
            <a:avLst>
              <a:gd fmla="val 8000" name="adj"/>
            </a:avLst>
          </a:prstGeom>
          <a:solidFill>
            <a:srgbClr val="BF554E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18"/>
          <p:cNvSpPr txBox="1"/>
          <p:nvPr/>
        </p:nvSpPr>
        <p:spPr>
          <a:xfrm>
            <a:off x="713232" y="5148072"/>
            <a:ext cx="12435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FFFFFF"/>
                </a:solidFill>
              </a:rPr>
              <a:t>OBJECTIVE</a:t>
            </a:r>
            <a:endParaRPr/>
          </a:p>
        </p:txBody>
      </p:sp>
      <p:sp>
        <p:nvSpPr>
          <p:cNvPr id="241" name="Google Shape;241;p18"/>
          <p:cNvSpPr txBox="1"/>
          <p:nvPr/>
        </p:nvSpPr>
        <p:spPr>
          <a:xfrm>
            <a:off x="2212848" y="5134356"/>
            <a:ext cx="90525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223443"/>
                </a:solidFill>
              </a:rPr>
              <a:t>utils.py derivatives + UniversalFieldLoss response terms</a:t>
            </a:r>
            <a:endParaRPr/>
          </a:p>
        </p:txBody>
      </p:sp>
      <p:sp>
        <p:nvSpPr>
          <p:cNvPr id="242" name="Google Shape;242;p18"/>
          <p:cNvSpPr/>
          <p:nvPr/>
        </p:nvSpPr>
        <p:spPr>
          <a:xfrm>
            <a:off x="658368" y="5577840"/>
            <a:ext cx="1353300" cy="310800"/>
          </a:xfrm>
          <a:prstGeom prst="roundRect">
            <a:avLst>
              <a:gd fmla="val 8000" name="adj"/>
            </a:avLst>
          </a:prstGeom>
          <a:solidFill>
            <a:srgbClr val="488F69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18"/>
          <p:cNvSpPr txBox="1"/>
          <p:nvPr/>
        </p:nvSpPr>
        <p:spPr>
          <a:xfrm>
            <a:off x="713232" y="5586983"/>
            <a:ext cx="12435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FFFFFF"/>
                </a:solidFill>
              </a:rPr>
              <a:t>RUNTIME</a:t>
            </a:r>
            <a:endParaRPr/>
          </a:p>
        </p:txBody>
      </p:sp>
      <p:sp>
        <p:nvSpPr>
          <p:cNvPr id="244" name="Google Shape;244;p18"/>
          <p:cNvSpPr txBox="1"/>
          <p:nvPr/>
        </p:nvSpPr>
        <p:spPr>
          <a:xfrm>
            <a:off x="2212848" y="5573268"/>
            <a:ext cx="90525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223443"/>
                </a:solidFill>
              </a:rPr>
              <a:t>finetuning_utils.py → calculator / eval CLI → field scan</a:t>
            </a:r>
            <a:endParaRPr/>
          </a:p>
        </p:txBody>
      </p:sp>
      <p:sp>
        <p:nvSpPr>
          <p:cNvPr id="245" name="Google Shape;245;p18"/>
          <p:cNvSpPr txBox="1"/>
          <p:nvPr/>
        </p:nvSpPr>
        <p:spPr>
          <a:xfrm>
            <a:off x="640080" y="6153912"/>
            <a:ext cx="109728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536676"/>
                </a:solidFill>
              </a:rPr>
              <a:t>Keep each response label tied to its energy derivative and a held-out field-range check.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9FB"/>
        </a:solidFill>
      </p:bgPr>
    </p:bg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19"/>
          <p:cNvSpPr/>
          <p:nvPr/>
        </p:nvSpPr>
        <p:spPr>
          <a:xfrm>
            <a:off x="0" y="0"/>
            <a:ext cx="12191700" cy="118800"/>
          </a:xfrm>
          <a:prstGeom prst="rect">
            <a:avLst/>
          </a:prstGeom>
          <a:solidFill>
            <a:srgbClr val="183148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19"/>
          <p:cNvSpPr txBox="1"/>
          <p:nvPr/>
        </p:nvSpPr>
        <p:spPr>
          <a:xfrm>
            <a:off x="566928" y="347472"/>
            <a:ext cx="109728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25848B"/>
                </a:solidFill>
              </a:rPr>
              <a:t>SOURCE MAP · MACEFIELD</a:t>
            </a:r>
            <a:endParaRPr/>
          </a:p>
        </p:txBody>
      </p:sp>
      <p:sp>
        <p:nvSpPr>
          <p:cNvPr id="252" name="Google Shape;252;p19"/>
          <p:cNvSpPr txBox="1"/>
          <p:nvPr/>
        </p:nvSpPr>
        <p:spPr>
          <a:xfrm>
            <a:off x="566928" y="658368"/>
            <a:ext cx="10972800" cy="56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183148"/>
                </a:solidFill>
              </a:rPr>
              <a:t>Where the code changes</a:t>
            </a:r>
            <a:endParaRPr/>
          </a:p>
        </p:txBody>
      </p:sp>
      <p:sp>
        <p:nvSpPr>
          <p:cNvPr id="253" name="Google Shape;253;p19"/>
          <p:cNvSpPr txBox="1"/>
          <p:nvPr/>
        </p:nvSpPr>
        <p:spPr>
          <a:xfrm>
            <a:off x="502920" y="6547104"/>
            <a:ext cx="9144000" cy="16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536676"/>
                </a:solidFill>
                <a:latin typeface="Arial"/>
                <a:ea typeface="Arial"/>
                <a:cs typeface="Arial"/>
                <a:sym typeface="Arial"/>
              </a:rPr>
              <a:t>LJC–TYC SUMMER SCHOOL  ·  ATOMIC-SCALE MODELLING</a:t>
            </a:r>
            <a:endParaRPr/>
          </a:p>
        </p:txBody>
      </p:sp>
      <p:sp>
        <p:nvSpPr>
          <p:cNvPr id="254" name="Google Shape;254;p19"/>
          <p:cNvSpPr txBox="1"/>
          <p:nvPr/>
        </p:nvSpPr>
        <p:spPr>
          <a:xfrm>
            <a:off x="11292840" y="6510528"/>
            <a:ext cx="365700" cy="210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536676"/>
                </a:solidFill>
              </a:rPr>
              <a:t>07</a:t>
            </a:r>
            <a:endParaRPr/>
          </a:p>
        </p:txBody>
      </p:sp>
      <p:sp>
        <p:nvSpPr>
          <p:cNvPr id="255" name="Google Shape;255;p19"/>
          <p:cNvSpPr/>
          <p:nvPr/>
        </p:nvSpPr>
        <p:spPr>
          <a:xfrm>
            <a:off x="621792" y="1481328"/>
            <a:ext cx="10945500" cy="804600"/>
          </a:xfrm>
          <a:prstGeom prst="roundRect">
            <a:avLst>
              <a:gd fmla="val 8000" name="adj"/>
            </a:avLst>
          </a:prstGeom>
          <a:solidFill>
            <a:srgbClr val="183148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19"/>
          <p:cNvSpPr/>
          <p:nvPr/>
        </p:nvSpPr>
        <p:spPr>
          <a:xfrm>
            <a:off x="841248" y="1664208"/>
            <a:ext cx="640200" cy="420600"/>
          </a:xfrm>
          <a:prstGeom prst="roundRect">
            <a:avLst>
              <a:gd fmla="val 8000" name="adj"/>
            </a:avLst>
          </a:prstGeom>
          <a:solidFill>
            <a:srgbClr val="25848B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19"/>
          <p:cNvSpPr txBox="1"/>
          <p:nvPr/>
        </p:nvSpPr>
        <p:spPr>
          <a:xfrm>
            <a:off x="841248" y="1682496"/>
            <a:ext cx="6402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FFFFFF"/>
                </a:solidFill>
              </a:rPr>
              <a:t>MACE</a:t>
            </a:r>
            <a:endParaRPr/>
          </a:p>
        </p:txBody>
      </p:sp>
      <p:sp>
        <p:nvSpPr>
          <p:cNvPr id="258" name="Google Shape;258;p19"/>
          <p:cNvSpPr txBox="1"/>
          <p:nvPr/>
        </p:nvSpPr>
        <p:spPr>
          <a:xfrm>
            <a:off x="1719072" y="1572768"/>
            <a:ext cx="29262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87D9D7"/>
                </a:solidFill>
              </a:rPr>
              <a:t>Trace one prediction</a:t>
            </a:r>
            <a:endParaRPr/>
          </a:p>
        </p:txBody>
      </p:sp>
      <p:sp>
        <p:nvSpPr>
          <p:cNvPr id="259" name="Google Shape;259;p19"/>
          <p:cNvSpPr txBox="1"/>
          <p:nvPr/>
        </p:nvSpPr>
        <p:spPr>
          <a:xfrm>
            <a:off x="1719072" y="1847088"/>
            <a:ext cx="90525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FFFFFF"/>
                </a:solidFill>
              </a:rPr>
              <a:t>Field input → scalar energy → derivatives → response outputs</a:t>
            </a:r>
            <a:endParaRPr/>
          </a:p>
        </p:txBody>
      </p:sp>
      <p:sp>
        <p:nvSpPr>
          <p:cNvPr id="260" name="Google Shape;260;p19"/>
          <p:cNvSpPr/>
          <p:nvPr/>
        </p:nvSpPr>
        <p:spPr>
          <a:xfrm>
            <a:off x="621792" y="2578608"/>
            <a:ext cx="5376600" cy="117030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5225">
            <a:solidFill>
              <a:srgbClr val="E9EFF4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19"/>
          <p:cNvSpPr/>
          <p:nvPr/>
        </p:nvSpPr>
        <p:spPr>
          <a:xfrm>
            <a:off x="621792" y="2578608"/>
            <a:ext cx="73200" cy="1170300"/>
          </a:xfrm>
          <a:prstGeom prst="rect">
            <a:avLst/>
          </a:prstGeom>
          <a:solidFill>
            <a:srgbClr val="25848B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19"/>
          <p:cNvSpPr txBox="1"/>
          <p:nvPr/>
        </p:nvSpPr>
        <p:spPr>
          <a:xfrm>
            <a:off x="841248" y="2724912"/>
            <a:ext cx="49011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183148"/>
                </a:solidFill>
              </a:rPr>
              <a:t>01 · DATA + CLI</a:t>
            </a:r>
            <a:endParaRPr/>
          </a:p>
        </p:txBody>
      </p:sp>
      <p:sp>
        <p:nvSpPr>
          <p:cNvPr id="263" name="Google Shape;263;p19"/>
          <p:cNvSpPr txBox="1"/>
          <p:nvPr/>
        </p:nvSpPr>
        <p:spPr>
          <a:xfrm>
            <a:off x="841248" y="3054096"/>
            <a:ext cx="48279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25848B"/>
                </a:solidFill>
              </a:rPr>
              <a:t>data/utils.py · atomic_data.py</a:t>
            </a:r>
            <a:endParaRPr/>
          </a:p>
        </p:txBody>
      </p:sp>
      <p:sp>
        <p:nvSpPr>
          <p:cNvPr id="264" name="Google Shape;264;p19"/>
          <p:cNvSpPr txBox="1"/>
          <p:nvPr/>
        </p:nvSpPr>
        <p:spPr>
          <a:xfrm>
            <a:off x="841248" y="3328415"/>
            <a:ext cx="48279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536676"/>
                </a:solidFill>
              </a:rPr>
              <a:t>arg_parser.py · model_script_utils.py · run_train.py</a:t>
            </a:r>
            <a:endParaRPr/>
          </a:p>
        </p:txBody>
      </p:sp>
      <p:sp>
        <p:nvSpPr>
          <p:cNvPr id="265" name="Google Shape;265;p19"/>
          <p:cNvSpPr/>
          <p:nvPr/>
        </p:nvSpPr>
        <p:spPr>
          <a:xfrm>
            <a:off x="6190488" y="2578608"/>
            <a:ext cx="5376600" cy="117030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5225">
            <a:solidFill>
              <a:srgbClr val="E9EFF4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19"/>
          <p:cNvSpPr/>
          <p:nvPr/>
        </p:nvSpPr>
        <p:spPr>
          <a:xfrm>
            <a:off x="6190488" y="2578608"/>
            <a:ext cx="73200" cy="1170300"/>
          </a:xfrm>
          <a:prstGeom prst="rect">
            <a:avLst/>
          </a:prstGeom>
          <a:solidFill>
            <a:srgbClr val="437EAB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19"/>
          <p:cNvSpPr txBox="1"/>
          <p:nvPr/>
        </p:nvSpPr>
        <p:spPr>
          <a:xfrm>
            <a:off x="6409944" y="2724912"/>
            <a:ext cx="49011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183148"/>
                </a:solidFill>
              </a:rPr>
              <a:t>02 · MODEL</a:t>
            </a:r>
            <a:endParaRPr/>
          </a:p>
        </p:txBody>
      </p:sp>
      <p:sp>
        <p:nvSpPr>
          <p:cNvPr id="268" name="Google Shape;268;p19"/>
          <p:cNvSpPr txBox="1"/>
          <p:nvPr/>
        </p:nvSpPr>
        <p:spPr>
          <a:xfrm>
            <a:off x="6409944" y="3054096"/>
            <a:ext cx="48279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437EAB"/>
                </a:solidFill>
              </a:rPr>
              <a:t>models.py · extensions.py</a:t>
            </a:r>
            <a:endParaRPr/>
          </a:p>
        </p:txBody>
      </p:sp>
      <p:sp>
        <p:nvSpPr>
          <p:cNvPr id="269" name="Google Shape;269;p19"/>
          <p:cNvSpPr txBox="1"/>
          <p:nvPr/>
        </p:nvSpPr>
        <p:spPr>
          <a:xfrm>
            <a:off x="6409944" y="3328415"/>
            <a:ext cx="48279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536676"/>
                </a:solidFill>
              </a:rPr>
              <a:t>field_blocks.py adds couplings; blocks.py holds shared operations.</a:t>
            </a:r>
            <a:endParaRPr/>
          </a:p>
        </p:txBody>
      </p:sp>
      <p:sp>
        <p:nvSpPr>
          <p:cNvPr id="270" name="Google Shape;270;p19"/>
          <p:cNvSpPr/>
          <p:nvPr/>
        </p:nvSpPr>
        <p:spPr>
          <a:xfrm>
            <a:off x="621792" y="4014215"/>
            <a:ext cx="5376600" cy="117030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5225">
            <a:solidFill>
              <a:srgbClr val="E9EFF4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19"/>
          <p:cNvSpPr/>
          <p:nvPr/>
        </p:nvSpPr>
        <p:spPr>
          <a:xfrm>
            <a:off x="621792" y="4014215"/>
            <a:ext cx="73200" cy="1170300"/>
          </a:xfrm>
          <a:prstGeom prst="rect">
            <a:avLst/>
          </a:prstGeom>
          <a:solidFill>
            <a:srgbClr val="BF554E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19"/>
          <p:cNvSpPr txBox="1"/>
          <p:nvPr/>
        </p:nvSpPr>
        <p:spPr>
          <a:xfrm>
            <a:off x="841248" y="4160520"/>
            <a:ext cx="49011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183148"/>
                </a:solidFill>
              </a:rPr>
              <a:t>03 · DERIVATIVES + LOSS</a:t>
            </a:r>
            <a:endParaRPr/>
          </a:p>
        </p:txBody>
      </p:sp>
      <p:sp>
        <p:nvSpPr>
          <p:cNvPr id="273" name="Google Shape;273;p19"/>
          <p:cNvSpPr txBox="1"/>
          <p:nvPr/>
        </p:nvSpPr>
        <p:spPr>
          <a:xfrm>
            <a:off x="841248" y="4489704"/>
            <a:ext cx="48279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BF554E"/>
                </a:solidFill>
              </a:rPr>
              <a:t>modules/utils.py · modules/loss.py</a:t>
            </a:r>
            <a:endParaRPr/>
          </a:p>
        </p:txBody>
      </p:sp>
      <p:sp>
        <p:nvSpPr>
          <p:cNvPr id="274" name="Google Shape;274;p19"/>
          <p:cNvSpPr txBox="1"/>
          <p:nvPr/>
        </p:nvSpPr>
        <p:spPr>
          <a:xfrm>
            <a:off x="841248" y="4764024"/>
            <a:ext cx="48279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536676"/>
                </a:solidFill>
              </a:rPr>
              <a:t>UniversalFieldLoss fits energy, forces, stress and responses.</a:t>
            </a:r>
            <a:endParaRPr/>
          </a:p>
        </p:txBody>
      </p:sp>
      <p:sp>
        <p:nvSpPr>
          <p:cNvPr id="275" name="Google Shape;275;p19"/>
          <p:cNvSpPr/>
          <p:nvPr/>
        </p:nvSpPr>
        <p:spPr>
          <a:xfrm>
            <a:off x="6190488" y="4014215"/>
            <a:ext cx="5376600" cy="117030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5225">
            <a:solidFill>
              <a:srgbClr val="E9EFF4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19"/>
          <p:cNvSpPr/>
          <p:nvPr/>
        </p:nvSpPr>
        <p:spPr>
          <a:xfrm>
            <a:off x="6190488" y="4014215"/>
            <a:ext cx="73200" cy="1170300"/>
          </a:xfrm>
          <a:prstGeom prst="rect">
            <a:avLst/>
          </a:prstGeom>
          <a:solidFill>
            <a:srgbClr val="488F69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19"/>
          <p:cNvSpPr txBox="1"/>
          <p:nvPr/>
        </p:nvSpPr>
        <p:spPr>
          <a:xfrm>
            <a:off x="6409944" y="4160520"/>
            <a:ext cx="49011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183148"/>
                </a:solidFill>
              </a:rPr>
              <a:t>04 · FINE-TUNE + RUNTIME</a:t>
            </a:r>
            <a:endParaRPr/>
          </a:p>
        </p:txBody>
      </p:sp>
      <p:sp>
        <p:nvSpPr>
          <p:cNvPr id="278" name="Google Shape;278;p19"/>
          <p:cNvSpPr txBox="1"/>
          <p:nvPr/>
        </p:nvSpPr>
        <p:spPr>
          <a:xfrm>
            <a:off x="6409944" y="4489704"/>
            <a:ext cx="48279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488F69"/>
                </a:solidFill>
              </a:rPr>
              <a:t>finetuning_utils.py · calculators/mace.py</a:t>
            </a:r>
            <a:endParaRPr/>
          </a:p>
        </p:txBody>
      </p:sp>
      <p:sp>
        <p:nvSpPr>
          <p:cNvPr id="279" name="Google Shape;279;p19"/>
          <p:cNvSpPr txBox="1"/>
          <p:nvPr/>
        </p:nvSpPr>
        <p:spPr>
          <a:xfrm>
            <a:off x="6409944" y="4764024"/>
            <a:ext cx="48279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536676"/>
                </a:solidFill>
              </a:rPr>
              <a:t>cli/eval_configs.py requests field and response outputs.</a:t>
            </a:r>
            <a:endParaRPr/>
          </a:p>
        </p:txBody>
      </p:sp>
      <p:sp>
        <p:nvSpPr>
          <p:cNvPr id="280" name="Google Shape;280;p19"/>
          <p:cNvSpPr txBox="1"/>
          <p:nvPr/>
        </p:nvSpPr>
        <p:spPr>
          <a:xfrm>
            <a:off x="658368" y="5605272"/>
            <a:ext cx="10789800" cy="393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223443"/>
                </a:solidFill>
              </a:rPr>
              <a:t>Factory: model_script_utils.py · run_train.py. Checks: tests/extensions/macefield/test_macefield.py + finite differences.</a:t>
            </a:r>
            <a:endParaRPr/>
          </a:p>
        </p:txBody>
      </p:sp>
      <p:sp>
        <p:nvSpPr>
          <p:cNvPr id="281" name="Google Shape;281;p19"/>
          <p:cNvSpPr txBox="1"/>
          <p:nvPr/>
        </p:nvSpPr>
        <p:spPr>
          <a:xfrm>
            <a:off x="658368" y="6044184"/>
            <a:ext cx="10789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18275" spcFirstLastPara="1" rIns="18275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536676"/>
                </a:solidFill>
              </a:rPr>
              <a:t>Trace each label from ExtXYZ through the loss, checkpoint and ASE inference.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