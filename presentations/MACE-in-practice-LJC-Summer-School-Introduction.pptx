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titl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tit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ext_section_titl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ext_section_tit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ext_macefield_recip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ext_macefield_recip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ext_macefield_code_ma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ext_macefield_code_ma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ext_macefield_source_tre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ext_macefield_source_tre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Neutrino155/MACE_tutorial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30352" y="502920"/>
            <a:ext cx="109800" cy="5898000"/>
          </a:xfrm>
          <a:prstGeom prst="rect">
            <a:avLst/>
          </a:prstGeom>
          <a:solidFill>
            <a:srgbClr val="2584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32688" y="4315968"/>
            <a:ext cx="10223100" cy="1261800"/>
          </a:xfrm>
          <a:prstGeom prst="roundRect">
            <a:avLst>
              <a:gd fmla="val 16667" name="adj"/>
            </a:avLst>
          </a:prstGeom>
          <a:solidFill>
            <a:srgbClr val="EDF5F4"/>
          </a:solidFill>
          <a:ln cap="flat" cmpd="sng" w="15250">
            <a:solidFill>
              <a:srgbClr val="D6E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60120" y="56692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8487"/>
                </a:solidFill>
              </a:rPr>
              <a:t>LJC–TYC SUMMER SCHOOL  ·  ATOMIC-SCALE MODELLING</a:t>
            </a:r>
            <a:endParaRPr b="1" sz="1100">
              <a:solidFill>
                <a:srgbClr val="258487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32688" y="1325880"/>
            <a:ext cx="1033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83149"/>
                </a:solidFill>
              </a:rPr>
              <a:t>MACE in practice</a:t>
            </a:r>
            <a:endParaRPr b="1" sz="4200">
              <a:solidFill>
                <a:srgbClr val="183149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60120" y="2395728"/>
            <a:ext cx="9966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536C7C"/>
                </a:solidFill>
              </a:rPr>
              <a:t>Hands-on modelling, optional advanced study and a closing showcase of MACE extensions</a:t>
            </a:r>
            <a:endParaRPr sz="2100">
              <a:solidFill>
                <a:srgbClr val="536C7C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225296" y="4526280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7"/>
                </a:solidFill>
              </a:rPr>
              <a:t>PEOPLE</a:t>
            </a:r>
            <a:endParaRPr b="1" sz="1000">
              <a:solidFill>
                <a:srgbClr val="258487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225296" y="4828032"/>
            <a:ext cx="438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3149"/>
                </a:solidFill>
              </a:rPr>
              <a:t>Bradley Martin · Isaac Parker · Joe Hart</a:t>
            </a:r>
            <a:endParaRPr b="1" sz="1700">
              <a:solidFill>
                <a:srgbClr val="183149"/>
              </a:solidFill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446520" y="4526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7"/>
                </a:solidFill>
              </a:rPr>
              <a:t>SESSION</a:t>
            </a:r>
            <a:endParaRPr b="1" sz="1000">
              <a:solidFill>
                <a:srgbClr val="258487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446520" y="4800600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149"/>
                </a:solidFill>
              </a:rPr>
              <a:t>Thursday 1 October 2026</a:t>
            </a:r>
            <a:endParaRPr b="1" sz="1500">
              <a:solidFill>
                <a:srgbClr val="1831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149"/>
                </a:solidFill>
              </a:rPr>
              <a:t>14:00–17:00 · Cambridge</a:t>
            </a:r>
            <a:endParaRPr b="1" sz="1500">
              <a:solidFill>
                <a:srgbClr val="183149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60120" y="6281928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6C7C"/>
                </a:solidFill>
              </a:rPr>
              <a:t>Lennard-Jones Centre and Thomas Young Centre · University of Cambridge</a:t>
            </a:r>
            <a:endParaRPr sz="1000">
              <a:solidFill>
                <a:srgbClr val="536C7C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960120" y="3511550"/>
            <a:ext cx="6222900" cy="489000"/>
          </a:xfrm>
          <a:prstGeom prst="roundRect">
            <a:avLst>
              <a:gd fmla="val 16667" name="adj"/>
            </a:avLst>
          </a:prstGeom>
          <a:solidFill>
            <a:srgbClr val="ED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193800" y="3637280"/>
            <a:ext cx="10413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5848B"/>
                </a:solidFill>
              </a:rPr>
              <a:t>REPOSITORY</a:t>
            </a:r>
            <a:endParaRPr b="1" sz="950">
              <a:solidFill>
                <a:srgbClr val="25848B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2286000" y="3601720"/>
            <a:ext cx="4698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sng">
                <a:solidFill>
                  <a:srgbClr val="25667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github.com/Neutrino155/MACE_tutorials</a:t>
            </a:r>
            <a:endParaRPr b="1" sz="1300" u="sng">
              <a:solidFill>
                <a:srgbClr val="2566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66928" y="347472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848B"/>
                </a:solidFill>
                <a:latin typeface="Arial"/>
                <a:ea typeface="Arial"/>
                <a:cs typeface="Arial"/>
                <a:sym typeface="Arial"/>
              </a:rPr>
              <a:t>THURSDAY 1 OCTOBER 2026  ·  14:00–17:00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Tutorials</a:t>
            </a:r>
            <a:r>
              <a:rPr b="1" lang="en-US" sz="3000">
                <a:solidFill>
                  <a:srgbClr val="183148"/>
                </a:solidFill>
              </a:rPr>
              <a:t> workflow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292840" y="651052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49795" y="1572775"/>
            <a:ext cx="10696500" cy="914400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50976" y="1645920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CORE ROUTE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410054" y="1645983"/>
            <a:ext cx="4882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MACE Practice I + II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49795" y="3017525"/>
            <a:ext cx="10696500" cy="914400"/>
          </a:xfrm>
          <a:prstGeom prst="roundRect">
            <a:avLst>
              <a:gd fmla="val 8000" name="adj"/>
            </a:avLst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50976" y="3090672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OPTIONAL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410054" y="3090735"/>
            <a:ext cx="4882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Advanced notebooks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49795" y="4462275"/>
            <a:ext cx="10696500" cy="914400"/>
          </a:xfrm>
          <a:prstGeom prst="roundRect">
            <a:avLst>
              <a:gd fmla="val 8000" name="adj"/>
            </a:avLst>
          </a:prstGeom>
          <a:solidFill>
            <a:srgbClr val="488F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50975" y="4535425"/>
            <a:ext cx="1942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BRIEF DEMO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410054" y="4535487"/>
            <a:ext cx="4882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MACE extension examples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68096" y="59893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10-minute break each hour · Core route: Practice I → Practice II.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10054" y="1646020"/>
            <a:ext cx="4882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For hours 1 and 2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292850" y="3166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For early finishers who want more theory or applications.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410054" y="4540020"/>
            <a:ext cx="48828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~ Last 30-40 mins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566928" y="347472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B"/>
                </a:solidFill>
              </a:rPr>
              <a:t>WORKSHOP NOTEBOOKS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From practice to extension examples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292840" y="651052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03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621792" y="1481328"/>
            <a:ext cx="10945368" cy="804672"/>
          </a:xfrm>
          <a:prstGeom prst="roundRect">
            <a:avLst>
              <a:gd fmla="val 8000" name="adj"/>
            </a:avLst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41248" y="1664208"/>
            <a:ext cx="640080" cy="420624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41248" y="168249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T01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719072" y="1572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7D9D7"/>
                </a:solidFill>
              </a:rPr>
              <a:t>MACE Practice I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719072" y="1847088"/>
            <a:ext cx="9052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Inspect data · fit · evaluate a MACE model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95725" y="3777646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95726" y="3777646"/>
            <a:ext cx="73200" cy="1170300"/>
          </a:xfrm>
          <a:prstGeom prst="rect">
            <a:avLst/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815181" y="3923950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OPTIONAL · T03 &amp; T04-T05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15181" y="4253134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</a:rPr>
              <a:t>MACE Theory · Advanced applications</a:t>
            </a:r>
            <a:endParaRPr b="1" sz="1200">
              <a:solidFill>
                <a:srgbClr val="437EAB"/>
              </a:solidFill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15181" y="4527453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Architecture · Li diffusion · molecular NEB · MLIP workflows</a:t>
            </a:r>
            <a:endParaRPr sz="1200">
              <a:solidFill>
                <a:srgbClr val="536676"/>
              </a:solidFill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219301" y="3773078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219301" y="3773078"/>
            <a:ext cx="73200" cy="1170300"/>
          </a:xfrm>
          <a:prstGeom prst="rect">
            <a:avLst/>
          </a:prstGeom>
          <a:solidFill>
            <a:srgbClr val="488F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438757" y="3919383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FINAL DEMOS · MACE_extensions/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438757" y="4248567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</a:rPr>
              <a:t>Selected model examples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438757" y="4522887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Field · dipole · magnetism · long-range electrostatics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8356" y="5317810"/>
            <a:ext cx="10789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Core route: Practice I → Practice II. Advanced notebooks are optional; selected extensions are demonstrated in the final 30–45 minutes.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58368" y="6044184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36676"/>
                </a:solidFill>
              </a:rPr>
              <a:t>Folders: MACE_in_practice_I/ · MACE_in_practice_II/ · MACE_advanced/ · MACE_extensions/.</a:t>
            </a:r>
            <a:endParaRPr sz="1100">
              <a:solidFill>
                <a:srgbClr val="536676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36676"/>
                </a:solidFill>
              </a:rPr>
              <a:t>Source notebooks: Ioan Magdău, Ilyes Batatia and Will Baldwin; refined by Ioan Magdău and Alin Elena. Extensions: Bradley Martin.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21717" y="2457478"/>
            <a:ext cx="10945500" cy="804600"/>
          </a:xfrm>
          <a:prstGeom prst="roundRect">
            <a:avLst>
              <a:gd fmla="val 8000" name="adj"/>
            </a:avLst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841173" y="2640358"/>
            <a:ext cx="640200" cy="420600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41173" y="265864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T02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718997" y="254891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7D9D7"/>
                </a:solidFill>
              </a:rPr>
              <a:t>MACE Practice II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718997" y="2823238"/>
            <a:ext cx="905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Iterative training · active learning · fine-tuning a MACE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66928" y="347472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848B"/>
                </a:solidFill>
                <a:latin typeface="Arial"/>
                <a:ea typeface="Arial"/>
                <a:cs typeface="Arial"/>
                <a:sym typeface="Arial"/>
              </a:rPr>
              <a:t>LENNARD-JONES CENTRE · UNIVERSITY OF CAMBRIDGE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Closing discussion: where extensions change MACE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1292840" y="6510528"/>
            <a:ext cx="3657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04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94360" y="1353312"/>
            <a:ext cx="10927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36676"/>
                </a:solidFill>
              </a:rPr>
              <a:t>Use this map to introduce selected adaptations in the final 30–45 minute demonstration.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640080" y="2249424"/>
            <a:ext cx="2880360" cy="107899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40080" y="2249424"/>
            <a:ext cx="73152" cy="1078992"/>
          </a:xfrm>
          <a:prstGeom prst="rect">
            <a:avLst/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841247" y="23957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848B"/>
                </a:solidFill>
                <a:latin typeface="Arial"/>
                <a:ea typeface="Arial"/>
                <a:cs typeface="Arial"/>
                <a:sym typeface="Arial"/>
              </a:rPr>
              <a:t>STRUCTURE + STATE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41247" y="2706624"/>
            <a:ext cx="2532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atoms, geometry, cell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plus field / moments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4617720" y="2249424"/>
            <a:ext cx="2880360" cy="107899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617720" y="2249424"/>
            <a:ext cx="73152" cy="1078992"/>
          </a:xfrm>
          <a:prstGeom prst="rect">
            <a:avLst/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4818888" y="23957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37EAB"/>
                </a:solidFill>
                <a:latin typeface="Arial"/>
                <a:ea typeface="Arial"/>
                <a:cs typeface="Arial"/>
                <a:sym typeface="Arial"/>
              </a:rPr>
              <a:t>EQUIVARIANT TRUNK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4818888" y="2706624"/>
            <a:ext cx="2532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embeddings · interactions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products · readouts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8595360" y="2249424"/>
            <a:ext cx="2880360" cy="1078992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595360" y="2249424"/>
            <a:ext cx="73152" cy="1078992"/>
          </a:xfrm>
          <a:prstGeom prst="rect">
            <a:avLst/>
          </a:prstGeom>
          <a:solidFill>
            <a:srgbClr val="D9A4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796528" y="23957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1"/>
                </a:solidFill>
                <a:latin typeface="Arial"/>
                <a:ea typeface="Arial"/>
                <a:cs typeface="Arial"/>
                <a:sym typeface="Arial"/>
              </a:rPr>
              <a:t>PHYSICAL OUTPUT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796528" y="2706624"/>
            <a:ext cx="2532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energy and derivatives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or a symmetry-correct property</a:t>
            </a:r>
            <a:endParaRPr/>
          </a:p>
        </p:txBody>
      </p:sp>
      <p:cxnSp>
        <p:nvCxnSpPr>
          <p:cNvPr id="172" name="Google Shape;172;p16"/>
          <p:cNvCxnSpPr/>
          <p:nvPr/>
        </p:nvCxnSpPr>
        <p:spPr>
          <a:xfrm>
            <a:off x="3566160" y="2788920"/>
            <a:ext cx="896112" cy="0"/>
          </a:xfrm>
          <a:prstGeom prst="straightConnector1">
            <a:avLst/>
          </a:prstGeom>
          <a:noFill/>
          <a:ln cap="flat" cmpd="sng" w="25400">
            <a:solidFill>
              <a:srgbClr val="5366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3" name="Google Shape;173;p16"/>
          <p:cNvCxnSpPr/>
          <p:nvPr/>
        </p:nvCxnSpPr>
        <p:spPr>
          <a:xfrm>
            <a:off x="7543800" y="2788920"/>
            <a:ext cx="896112" cy="0"/>
          </a:xfrm>
          <a:prstGeom prst="straightConnector1">
            <a:avLst/>
          </a:prstGeom>
          <a:noFill/>
          <a:ln cap="flat" cmpd="sng" w="25400">
            <a:solidFill>
              <a:srgbClr val="5366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4" name="Google Shape;174;p16"/>
          <p:cNvSpPr txBox="1"/>
          <p:nvPr/>
        </p:nvSpPr>
        <p:spPr>
          <a:xfrm>
            <a:off x="621792" y="3822191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83148"/>
                </a:solidFill>
              </a:rPr>
              <a:t>Four adaptation patterns in the extension folder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58368" y="4261104"/>
            <a:ext cx="1353312" cy="310896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713232" y="4270248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2212848" y="4256532"/>
            <a:ext cx="9052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MACEField · field-conditioned energy &amp; polarization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658368" y="4700016"/>
            <a:ext cx="1353312" cy="310896"/>
          </a:xfrm>
          <a:prstGeom prst="roundRect">
            <a:avLst>
              <a:gd fmla="val 8000" name="adj"/>
            </a:avLst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13232" y="4709160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DIPOLE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2212848" y="4695444"/>
            <a:ext cx="9052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AtomicDipolesMACE · equivariant vector readout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58368" y="5138928"/>
            <a:ext cx="1353312" cy="310896"/>
          </a:xfrm>
          <a:prstGeom prst="roundRect">
            <a:avLst>
              <a:gd fmla="val 8000" name="adj"/>
            </a:avLst>
          </a:prstGeom>
          <a:solidFill>
            <a:srgbClr val="BF55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713232" y="5148072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SPIN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2212848" y="5134356"/>
            <a:ext cx="9052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Magnetic MACE · moments condition the energy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658368" y="5577840"/>
            <a:ext cx="1353312" cy="310896"/>
          </a:xfrm>
          <a:prstGeom prst="roundRect">
            <a:avLst>
              <a:gd fmla="val 8000" name="adj"/>
            </a:avLst>
          </a:prstGeom>
          <a:solidFill>
            <a:srgbClr val="488F6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713232" y="5586983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 RANGE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212848" y="5573268"/>
            <a:ext cx="9052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  <a:t>MACELES · explicit electrostatic energy branch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40080" y="6153912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36676"/>
                </a:solidFill>
              </a:rPr>
              <a:t>Use this architecture map to close with the extension examples most relevant to the group.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530352" y="502920"/>
            <a:ext cx="109800" cy="5898000"/>
          </a:xfrm>
          <a:prstGeom prst="rect">
            <a:avLst/>
          </a:prstGeom>
          <a:solidFill>
            <a:srgbClr val="2584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932688" y="4315968"/>
            <a:ext cx="10223100" cy="1261800"/>
          </a:xfrm>
          <a:prstGeom prst="roundRect">
            <a:avLst>
              <a:gd fmla="val 16667" name="adj"/>
            </a:avLst>
          </a:prstGeom>
          <a:solidFill>
            <a:srgbClr val="EDF5F4"/>
          </a:solidFill>
          <a:ln cap="flat" cmpd="sng" w="15250">
            <a:solidFill>
              <a:srgbClr val="D6E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960120" y="56692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8487"/>
                </a:solidFill>
              </a:rPr>
              <a:t>LJC–TYC SUMMER SCHOOL  ·  ATOMIC-SCALE MODELLING</a:t>
            </a:r>
            <a:endParaRPr b="1" sz="1100">
              <a:solidFill>
                <a:srgbClr val="258487"/>
              </a:solidFill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932688" y="1325880"/>
            <a:ext cx="1033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83149"/>
                </a:solidFill>
              </a:rPr>
              <a:t>Extending MACE</a:t>
            </a:r>
            <a:endParaRPr b="1" sz="4200">
              <a:solidFill>
                <a:srgbClr val="183149"/>
              </a:solidFill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960120" y="2395728"/>
            <a:ext cx="9966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536C7C"/>
                </a:solidFill>
              </a:rPr>
              <a:t>A codebase-guided recipe, grounded in MACEField</a:t>
            </a:r>
            <a:endParaRPr sz="2100">
              <a:solidFill>
                <a:srgbClr val="536C7C"/>
              </a:solidFill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1225296" y="4526280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7"/>
                </a:solidFill>
              </a:rPr>
              <a:t>PURPOSE</a:t>
            </a:r>
            <a:endParaRPr b="1" sz="1000">
              <a:solidFill>
                <a:srgbClr val="258487"/>
              </a:solidFill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225296" y="4828032"/>
            <a:ext cx="4389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83149"/>
                </a:solidFill>
              </a:rPr>
              <a:t>Trace one physical change through the MACE stack</a:t>
            </a:r>
            <a:endParaRPr b="1" sz="1700">
              <a:solidFill>
                <a:srgbClr val="183149"/>
              </a:solidFill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446520" y="4526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7"/>
                </a:solidFill>
              </a:rPr>
              <a:t>WORKED EXAMPLE</a:t>
            </a:r>
            <a:endParaRPr b="1" sz="1000">
              <a:solidFill>
                <a:srgbClr val="258487"/>
              </a:solidFill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6446520" y="4800600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149"/>
                </a:solidFill>
              </a:rPr>
              <a:t>MACEField</a:t>
            </a:r>
            <a:endParaRPr b="1" sz="1500">
              <a:solidFill>
                <a:srgbClr val="1831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149"/>
                </a:solidFill>
              </a:rPr>
              <a:t>Field-dependent energy and response</a:t>
            </a:r>
            <a:endParaRPr b="1" sz="1500">
              <a:solidFill>
                <a:srgbClr val="183149"/>
              </a:solidFill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60120" y="6281928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36C7C"/>
                </a:solidFill>
              </a:rPr>
              <a:t>Lennard-Jones Centre and Thomas Young Centre · University of Cambridge</a:t>
            </a:r>
            <a:endParaRPr sz="1000">
              <a:solidFill>
                <a:srgbClr val="536C7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66928" y="347472"/>
            <a:ext cx="1097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848B"/>
                </a:solidFill>
                <a:latin typeface="Arial"/>
                <a:ea typeface="Arial"/>
                <a:cs typeface="Arial"/>
                <a:sym typeface="Arial"/>
              </a:rPr>
              <a:t>LENNARD-JONES CENTRE · UNIVERSITY OF CAMBRIDGE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66928" y="658368"/>
            <a:ext cx="1097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MACEField: an extension recipe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02920" y="6547104"/>
            <a:ext cx="914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1292840" y="6510528"/>
            <a:ext cx="365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06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94360" y="1353312"/>
            <a:ext cx="1092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536676"/>
                </a:solidFill>
              </a:rPr>
              <a:t>From the new physical variable to validation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40080" y="2249424"/>
            <a:ext cx="2880300" cy="10791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40080" y="2249424"/>
            <a:ext cx="73200" cy="1079100"/>
          </a:xfrm>
          <a:prstGeom prst="rect">
            <a:avLst/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841247" y="239572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848B"/>
                </a:solidFill>
              </a:rPr>
              <a:t>INPUT + LABELS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41247" y="2706624"/>
            <a:ext cx="253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electric field vector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223443"/>
                </a:solidFill>
              </a:rPr>
              <a:t>energy + response targets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617720" y="2249424"/>
            <a:ext cx="2880300" cy="10791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617720" y="2249424"/>
            <a:ext cx="73200" cy="1079100"/>
          </a:xfrm>
          <a:prstGeom prst="rect">
            <a:avLst/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4818888" y="239572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</a:rPr>
              <a:t>MODEL PATH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4818888" y="2706624"/>
            <a:ext cx="253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MACE trunk +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223443"/>
                </a:solidFill>
              </a:rPr>
              <a:t>field adapters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8595360" y="2249424"/>
            <a:ext cx="2880300" cy="10791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8595360" y="2249424"/>
            <a:ext cx="73200" cy="1079100"/>
          </a:xfrm>
          <a:prstGeom prst="rect">
            <a:avLst/>
          </a:prstGeom>
          <a:solidFill>
            <a:srgbClr val="D9A44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8796528" y="239572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9A441"/>
                </a:solidFill>
              </a:rPr>
              <a:t>ENERGY + DERIVATIVES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8796528" y="2706624"/>
            <a:ext cx="253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shared scalar energy</a:t>
            </a:r>
            <a:br>
              <a:rPr b="0" i="0" lang="en-US" sz="1500" u="none" cap="none" strike="noStrike">
                <a:solidFill>
                  <a:srgbClr val="2234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rgbClr val="223443"/>
                </a:solidFill>
              </a:rPr>
              <a:t>forces + field response</a:t>
            </a:r>
            <a:endParaRPr/>
          </a:p>
        </p:txBody>
      </p:sp>
      <p:cxnSp>
        <p:nvCxnSpPr>
          <p:cNvPr id="224" name="Google Shape;224;p18"/>
          <p:cNvCxnSpPr/>
          <p:nvPr/>
        </p:nvCxnSpPr>
        <p:spPr>
          <a:xfrm>
            <a:off x="3566160" y="2788920"/>
            <a:ext cx="896100" cy="0"/>
          </a:xfrm>
          <a:prstGeom prst="straightConnector1">
            <a:avLst/>
          </a:prstGeom>
          <a:noFill/>
          <a:ln cap="flat" cmpd="sng" w="25400">
            <a:solidFill>
              <a:srgbClr val="5366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25" name="Google Shape;225;p18"/>
          <p:cNvCxnSpPr/>
          <p:nvPr/>
        </p:nvCxnSpPr>
        <p:spPr>
          <a:xfrm>
            <a:off x="7543800" y="2788920"/>
            <a:ext cx="896100" cy="0"/>
          </a:xfrm>
          <a:prstGeom prst="straightConnector1">
            <a:avLst/>
          </a:prstGeom>
          <a:noFill/>
          <a:ln cap="flat" cmpd="sng" w="25400">
            <a:solidFill>
              <a:srgbClr val="53667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26" name="Google Shape;226;p18"/>
          <p:cNvSpPr txBox="1"/>
          <p:nvPr/>
        </p:nvSpPr>
        <p:spPr>
          <a:xfrm>
            <a:off x="621792" y="3822191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83148"/>
                </a:solidFill>
              </a:rPr>
              <a:t>MACEField: one implementation path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58368" y="4261104"/>
            <a:ext cx="1353300" cy="310800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713232" y="4270248"/>
            <a:ext cx="124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INPUTS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2212848" y="4256532"/>
            <a:ext cx="9052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ExtXYZ → AtomicData → labels, units and batching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658368" y="4700016"/>
            <a:ext cx="1353300" cy="310800"/>
          </a:xfrm>
          <a:prstGeom prst="roundRect">
            <a:avLst>
              <a:gd fmla="val 8000" name="adj"/>
            </a:avLst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713232" y="4709160"/>
            <a:ext cx="124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MODEL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2212848" y="4695444"/>
            <a:ext cx="9052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models.py → extensions.py → field_blocks.py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658368" y="5138928"/>
            <a:ext cx="1353300" cy="310800"/>
          </a:xfrm>
          <a:prstGeom prst="roundRect">
            <a:avLst>
              <a:gd fmla="val 8000" name="adj"/>
            </a:avLst>
          </a:prstGeom>
          <a:solidFill>
            <a:srgbClr val="BF554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713232" y="5148072"/>
            <a:ext cx="124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OBJECTIVE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2212848" y="5134356"/>
            <a:ext cx="9052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utils.py derivatives + UniversalFieldLoss response terms</a:t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658368" y="5577840"/>
            <a:ext cx="1353300" cy="310800"/>
          </a:xfrm>
          <a:prstGeom prst="roundRect">
            <a:avLst>
              <a:gd fmla="val 8000" name="adj"/>
            </a:avLst>
          </a:prstGeom>
          <a:solidFill>
            <a:srgbClr val="488F6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713232" y="5586983"/>
            <a:ext cx="124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RUNTIME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2212848" y="5573268"/>
            <a:ext cx="9052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finetuning_utils.py → calculator / eval CLI → field scan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640080" y="6153912"/>
            <a:ext cx="1097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36676"/>
                </a:solidFill>
              </a:rPr>
              <a:t>Keep each response label tied to its energy derivative and a held-out field-range check.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66928" y="347472"/>
            <a:ext cx="1097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B"/>
                </a:solidFill>
              </a:rPr>
              <a:t>SOURCE MAP · MACEFIELD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566928" y="658368"/>
            <a:ext cx="1097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Where the code changes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502920" y="6547104"/>
            <a:ext cx="914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1292840" y="6510528"/>
            <a:ext cx="365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07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21792" y="1481328"/>
            <a:ext cx="10945500" cy="804600"/>
          </a:xfrm>
          <a:prstGeom prst="roundRect">
            <a:avLst>
              <a:gd fmla="val 8000" name="adj"/>
            </a:avLst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841248" y="1664208"/>
            <a:ext cx="640200" cy="420600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841248" y="168249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MACE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719072" y="157276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7D9D7"/>
                </a:solidFill>
              </a:rPr>
              <a:t>Trace one prediction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1719072" y="1847088"/>
            <a:ext cx="905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Field input → scalar energy → derivatives → response outputs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621792" y="2578608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21792" y="2578608"/>
            <a:ext cx="73200" cy="1170300"/>
          </a:xfrm>
          <a:prstGeom prst="rect">
            <a:avLst/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841248" y="2724912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01 · DATA + CLI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841248" y="3054096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848B"/>
                </a:solidFill>
              </a:rPr>
              <a:t>data/utils.py · atomic_data.py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841248" y="3328415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arg_parser.py · model_script_utils.py · run_train.py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6190488" y="2578608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190488" y="2578608"/>
            <a:ext cx="73200" cy="1170300"/>
          </a:xfrm>
          <a:prstGeom prst="rect">
            <a:avLst/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6409944" y="2724912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02 · MODEL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6409944" y="3054096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</a:rPr>
              <a:t>models.py · extensions.py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6409944" y="3328415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field_blocks.py adds couplings; blocks.py holds shared operations.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621792" y="4014215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621792" y="4014215"/>
            <a:ext cx="73200" cy="1170300"/>
          </a:xfrm>
          <a:prstGeom prst="rect">
            <a:avLst/>
          </a:prstGeom>
          <a:solidFill>
            <a:srgbClr val="BF554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841248" y="4160520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03 · DERIVATIVES + LOSS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41248" y="4489704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F554E"/>
                </a:solidFill>
              </a:rPr>
              <a:t>modules/utils.py · modules/loss.py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41248" y="4764024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UniversalFieldLoss fits energy, forces, stress and responses.</a:t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6190488" y="4014215"/>
            <a:ext cx="5376600" cy="11703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6190488" y="4014215"/>
            <a:ext cx="73200" cy="1170300"/>
          </a:xfrm>
          <a:prstGeom prst="rect">
            <a:avLst/>
          </a:prstGeom>
          <a:solidFill>
            <a:srgbClr val="488F6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6409944" y="4160520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3148"/>
                </a:solidFill>
              </a:rPr>
              <a:t>04 · FINE-TUNE + RUNTIME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6409944" y="4489704"/>
            <a:ext cx="48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</a:rPr>
              <a:t>finetuning_utils.py · calculators/mace.py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6409944" y="4764024"/>
            <a:ext cx="482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36676"/>
                </a:solidFill>
              </a:rPr>
              <a:t>cli/eval_configs.py requests field and response outputs.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658368" y="5605272"/>
            <a:ext cx="10789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3443"/>
                </a:solidFill>
              </a:rPr>
              <a:t>Factory: model_script_utils.py · run_train.py. Checks: tests/extensions/macefield/test_macefield.py + finite differences.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658368" y="6044184"/>
            <a:ext cx="1078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36676"/>
                </a:solidFill>
              </a:rPr>
              <a:t>Trace each label from ExtXYZ through the loss, checkpoint and ASE inference.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/>
          <p:nvPr/>
        </p:nvSpPr>
        <p:spPr>
          <a:xfrm>
            <a:off x="0" y="0"/>
            <a:ext cx="12191700" cy="118800"/>
          </a:xfrm>
          <a:prstGeom prst="rect">
            <a:avLst/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566928" y="347472"/>
            <a:ext cx="10972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848B"/>
                </a:solidFill>
              </a:rPr>
              <a:t>MACEFIELD CODEBASE · SOURCE TREE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566928" y="658368"/>
            <a:ext cx="10972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3148"/>
                </a:solidFill>
              </a:rPr>
              <a:t>MACEField in the MACE source tree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502920" y="6547104"/>
            <a:ext cx="9144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36676"/>
                </a:solidFill>
                <a:latin typeface="Arial"/>
                <a:ea typeface="Arial"/>
                <a:cs typeface="Arial"/>
                <a:sym typeface="Arial"/>
              </a:rPr>
              <a:t>LJC–TYC SUMMER SCHOOL  ·  ATOMIC-SCALE MODELLING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1292840" y="6510528"/>
            <a:ext cx="365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36676"/>
                </a:solidFill>
              </a:rPr>
              <a:t>08</a:t>
            </a:r>
            <a:endParaRPr b="1" sz="1000">
              <a:solidFill>
                <a:srgbClr val="536676"/>
              </a:solidFill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21792" y="1481328"/>
            <a:ext cx="10945500" cy="804600"/>
          </a:xfrm>
          <a:prstGeom prst="roundRect">
            <a:avLst>
              <a:gd fmla="val 8000" name="adj"/>
            </a:avLst>
          </a:prstGeom>
          <a:solidFill>
            <a:srgbClr val="18314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841248" y="1664208"/>
            <a:ext cx="640200" cy="420600"/>
          </a:xfrm>
          <a:prstGeom prst="roundRect">
            <a:avLst>
              <a:gd fmla="val 8000" name="adj"/>
            </a:avLst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841248" y="1682496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MACE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1719072" y="157276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7D9D7"/>
                </a:solidFill>
              </a:rPr>
              <a:t>Trace one prediction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1719072" y="1847088"/>
            <a:ext cx="905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Field input → scalar energy → derivatives → response outputs</a:t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622300" y="2578100"/>
            <a:ext cx="6921600" cy="309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22300" y="2578100"/>
            <a:ext cx="73800" cy="3098700"/>
          </a:xfrm>
          <a:prstGeom prst="rect">
            <a:avLst/>
          </a:prstGeom>
          <a:solidFill>
            <a:srgbClr val="25848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841248" y="2724912"/>
            <a:ext cx="490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83148"/>
                </a:solidFill>
              </a:rPr>
              <a:t>CODEBASE TREE</a:t>
            </a:r>
            <a:endParaRPr b="1">
              <a:solidFill>
                <a:srgbClr val="183148"/>
              </a:solidFill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840740" y="3054350"/>
            <a:ext cx="64770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83148"/>
                </a:solidFill>
                <a:latin typeface="Courier New"/>
                <a:ea typeface="Courier New"/>
                <a:cs typeface="Courier New"/>
                <a:sym typeface="Courier New"/>
              </a:rPr>
              <a:t>mace-field/</a:t>
            </a:r>
            <a:endParaRPr b="1" sz="1200">
              <a:solidFill>
                <a:srgbClr val="18314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83148"/>
                </a:solidFill>
                <a:latin typeface="Courier New"/>
                <a:ea typeface="Courier New"/>
                <a:cs typeface="Courier New"/>
                <a:sym typeface="Courier New"/>
              </a:rPr>
              <a:t>└── mace/</a:t>
            </a:r>
            <a:endParaRPr b="1" sz="1200">
              <a:solidFill>
                <a:srgbClr val="18314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848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data/ · utils.py · atomic_data.py</a:t>
            </a:r>
            <a:endParaRPr b="1" sz="1200">
              <a:solidFill>
                <a:srgbClr val="258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modules/</a:t>
            </a:r>
            <a:endParaRPr b="1" sz="1200">
              <a:solidFill>
                <a:srgbClr val="437EA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├── models.py · extensions.py</a:t>
            </a:r>
            <a:endParaRPr b="1" sz="1200">
              <a:solidFill>
                <a:srgbClr val="437EA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├── field_blocks.py · blocks.py</a:t>
            </a:r>
            <a:endParaRPr b="1" sz="1200">
              <a:solidFill>
                <a:srgbClr val="437EA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F554E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└── utils.py · loss.py</a:t>
            </a:r>
            <a:endParaRPr b="1" sz="1200">
              <a:solidFill>
                <a:srgbClr val="BF554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tools/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├── default_keys.py · arg_parser.py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├── model_script_utils.py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│   └── finetuning_utils.py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cli/ · run_train.py · eval_configs.py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calculators/ · mace.py</a:t>
            </a:r>
            <a:endParaRPr b="1" sz="1200">
              <a:solidFill>
                <a:srgbClr val="488F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7759700" y="2578100"/>
            <a:ext cx="3810000" cy="309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225">
            <a:solidFill>
              <a:srgbClr val="E9EF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7759700" y="2578100"/>
            <a:ext cx="73800" cy="3098700"/>
          </a:xfrm>
          <a:prstGeom prst="rect">
            <a:avLst/>
          </a:prstGeom>
          <a:solidFill>
            <a:srgbClr val="437EA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7962900" y="2725420"/>
            <a:ext cx="340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83148"/>
                </a:solidFill>
              </a:rPr>
              <a:t>EXTENSION TOUCHPOINTS</a:t>
            </a:r>
            <a:endParaRPr b="1">
              <a:solidFill>
                <a:srgbClr val="183148"/>
              </a:solidFill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660400" y="5867400"/>
            <a:ext cx="1079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36676"/>
                </a:solidFill>
              </a:rPr>
              <a:t>Adapt the extension-specific interfaces first; change shared MACE operations only when the common feature path must change.</a:t>
            </a:r>
            <a:endParaRPr sz="1050">
              <a:solidFill>
                <a:srgbClr val="536676"/>
              </a:solidFill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962900" y="3060700"/>
            <a:ext cx="34035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5848B"/>
                </a:solidFill>
              </a:rPr>
              <a:t>DATA + CONFIG</a:t>
            </a:r>
            <a:endParaRPr b="1" sz="1200">
              <a:solidFill>
                <a:srgbClr val="25848B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data/utils.py · atomic_data.py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default_keys.py · arg_parser.py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37EAB"/>
                </a:solidFill>
              </a:rPr>
              <a:t>MODEL</a:t>
            </a:r>
            <a:endParaRPr b="1" sz="1200">
              <a:solidFill>
                <a:srgbClr val="437EAB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models.py → extensions.py · field_blocks.py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blocks.py only for shared-operation changes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F554E"/>
                </a:solidFill>
              </a:rPr>
              <a:t>DERIVATIVES + LOSS</a:t>
            </a:r>
            <a:endParaRPr b="1" sz="1200">
              <a:solidFill>
                <a:srgbClr val="BF554E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modules/utils.py · autograd for P, BECs, χ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modules/loss.py · folds periodic P branches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88F69"/>
                </a:solidFill>
              </a:rPr>
              <a:t>FINE-TUNE + RUNTIME</a:t>
            </a:r>
            <a:endParaRPr b="1" sz="1200">
              <a:solidFill>
                <a:srgbClr val="488F69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model_script_utils.py · finetuning_utils.py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run_train.py · eval_configs.py</a:t>
            </a:r>
            <a:endParaRPr sz="1200">
              <a:solidFill>
                <a:srgbClr val="4D6373"/>
              </a:solidFill>
            </a:endParaRPr>
          </a:p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D6373"/>
                </a:solidFill>
              </a:rPr>
              <a:t>calculators/mace.py · ASE field / response I/O</a:t>
            </a:r>
            <a:endParaRPr sz="1200">
              <a:solidFill>
                <a:srgbClr val="4D637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